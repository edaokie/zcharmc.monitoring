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2f0a6884934ad8" /><Relationship Type="http://schemas.openxmlformats.org/officeDocument/2006/relationships/extended-properties" Target="/docProps/app.xml" Id="Rdab12eb93a8f4cf0" /><Relationship Type="http://schemas.openxmlformats.org/officeDocument/2006/relationships/officeDocument" Target="/ppt/presentation.xml" Id="Rb9a7b7dd819141a5" /></Relationships>
</file>

<file path=ppt/presentation.xml><?xml version="1.0" encoding="utf-8"?>
<p:presentation xmlns:p="http://schemas.openxmlformats.org/presentationml/2006/main">
  <p:sldMasterIdLst>
    <p:sldMasterId xmlns:r="http://schemas.openxmlformats.org/officeDocument/2006/relationships" id="2147483648" r:id="Rb70fecfd42694696"/>
  </p:sldMasterIdLst>
  <p:notesMasterIdLst>
    <p:notesMasterId xmlns:r="http://schemas.openxmlformats.org/officeDocument/2006/relationships" r:id="Rb5a3d5bf950a4cd7"/>
  </p:notesMasterIdLst>
  <p:sldIdLst>
    <p:sldId xmlns:r="http://schemas.openxmlformats.org/officeDocument/2006/relationships" id="256" r:id="R039936daaa3148cf"/>
    <p:sldId xmlns:r="http://schemas.openxmlformats.org/officeDocument/2006/relationships" id="257" r:id="Ref973b68c3fa4246"/>
    <p:sldId xmlns:r="http://schemas.openxmlformats.org/officeDocument/2006/relationships" id="258" r:id="R249519727dea473e"/>
    <p:sldId xmlns:r="http://schemas.openxmlformats.org/officeDocument/2006/relationships" id="259" r:id="R87cb5c6ffd8d42cf"/>
    <p:sldId xmlns:r="http://schemas.openxmlformats.org/officeDocument/2006/relationships" id="260" r:id="R0da6f27e6abc4761"/>
    <p:sldId xmlns:r="http://schemas.openxmlformats.org/officeDocument/2006/relationships" id="261" r:id="Rbbee75d1912449ee"/>
    <p:sldId xmlns:r="http://schemas.openxmlformats.org/officeDocument/2006/relationships" id="262" r:id="Rdfeaa0fb9cf64530"/>
    <p:sldId xmlns:r="http://schemas.openxmlformats.org/officeDocument/2006/relationships" id="263" r:id="Rb9209a9cecca41af"/>
    <p:sldId xmlns:r="http://schemas.openxmlformats.org/officeDocument/2006/relationships" id="264" r:id="R4b17b48a6289416b"/>
    <p:sldId xmlns:r="http://schemas.openxmlformats.org/officeDocument/2006/relationships" id="265" r:id="Raca6f688f5124acc"/>
    <p:sldId xmlns:r="http://schemas.openxmlformats.org/officeDocument/2006/relationships" id="266" r:id="Rcfb76025b73d4f2d"/>
    <p:sldId xmlns:r="http://schemas.openxmlformats.org/officeDocument/2006/relationships" id="267" r:id="R1e2f7587c13647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230a1062a44183" /><Relationship Type="http://schemas.openxmlformats.org/officeDocument/2006/relationships/slideMaster" Target="/ppt/slideMasters/slideMaster1.xml" Id="Rb70fecfd42694696" /><Relationship Type="http://schemas.openxmlformats.org/officeDocument/2006/relationships/notesMaster" Target="/ppt/notesMasters/notesMaster1.xml" Id="Rb5a3d5bf950a4cd7" /><Relationship Type="http://schemas.openxmlformats.org/officeDocument/2006/relationships/presProps" Target="/ppt/presProps.xml" Id="R44da1f0a7a5d467d" /><Relationship Type="http://schemas.openxmlformats.org/officeDocument/2006/relationships/tableStyles" Target="/ppt/tableStyles.xml" Id="Reaf94972718a4d2b" /><Relationship Type="http://schemas.openxmlformats.org/officeDocument/2006/relationships/slide" Target="/ppt/slides/slide1.xml" Id="R039936daaa3148cf" /><Relationship Type="http://schemas.openxmlformats.org/officeDocument/2006/relationships/slide" Target="/ppt/slides/slide2.xml" Id="Ref973b68c3fa4246" /><Relationship Type="http://schemas.openxmlformats.org/officeDocument/2006/relationships/slide" Target="/ppt/slides/slide3.xml" Id="R249519727dea473e" /><Relationship Type="http://schemas.openxmlformats.org/officeDocument/2006/relationships/slide" Target="/ppt/slides/slide4.xml" Id="R87cb5c6ffd8d42cf" /><Relationship Type="http://schemas.openxmlformats.org/officeDocument/2006/relationships/slide" Target="/ppt/slides/slide5.xml" Id="R0da6f27e6abc4761" /><Relationship Type="http://schemas.openxmlformats.org/officeDocument/2006/relationships/slide" Target="/ppt/slides/slide6.xml" Id="Rbbee75d1912449ee" /><Relationship Type="http://schemas.openxmlformats.org/officeDocument/2006/relationships/slide" Target="/ppt/slides/slide7.xml" Id="Rdfeaa0fb9cf64530" /><Relationship Type="http://schemas.openxmlformats.org/officeDocument/2006/relationships/slide" Target="/ppt/slides/slide8.xml" Id="Rb9209a9cecca41af" /><Relationship Type="http://schemas.openxmlformats.org/officeDocument/2006/relationships/slide" Target="/ppt/slides/slide9.xml" Id="R4b17b48a6289416b" /><Relationship Type="http://schemas.openxmlformats.org/officeDocument/2006/relationships/slide" Target="/ppt/slides/slide10.xml" Id="Raca6f688f5124acc" /><Relationship Type="http://schemas.openxmlformats.org/officeDocument/2006/relationships/slide" Target="/ppt/slides/slide11.xml" Id="Rcfb76025b73d4f2d" /><Relationship Type="http://schemas.openxmlformats.org/officeDocument/2006/relationships/slide" Target="/ppt/slides/slide12.xml" Id="R1e2f7587c13647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50f42e1ae147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c1a45ab3c44a57" /><Relationship Type="http://schemas.openxmlformats.org/officeDocument/2006/relationships/notesMaster" Target="/ppt/notesMasters/notesMaster1.xml" Id="Raf830f7bceb74e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8c8a69c2da4f5b" /><Relationship Type="http://schemas.openxmlformats.org/officeDocument/2006/relationships/notesMaster" Target="/ppt/notesMasters/notesMaster1.xml" Id="R656095c08b674b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5dd9dbafa34310" /><Relationship Type="http://schemas.openxmlformats.org/officeDocument/2006/relationships/notesMaster" Target="/ppt/notesMasters/notesMaster1.xml" Id="R9cdb0b2508e74d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555e9e33b343cc" /><Relationship Type="http://schemas.openxmlformats.org/officeDocument/2006/relationships/notesMaster" Target="/ppt/notesMasters/notesMaster1.xml" Id="Rcded059e973a4d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583db062d342b8" /><Relationship Type="http://schemas.openxmlformats.org/officeDocument/2006/relationships/notesMaster" Target="/ppt/notesMasters/notesMaster1.xml" Id="R1a8af13d79ee4c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7cfe0be8c2474b" /><Relationship Type="http://schemas.openxmlformats.org/officeDocument/2006/relationships/notesMaster" Target="/ppt/notesMasters/notesMaster1.xml" Id="Rdce67210446540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f4ac554f104228" /><Relationship Type="http://schemas.openxmlformats.org/officeDocument/2006/relationships/notesMaster" Target="/ppt/notesMasters/notesMaster1.xml" Id="R9e02cfba5e6d46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e48b73ef0f4cb8" /><Relationship Type="http://schemas.openxmlformats.org/officeDocument/2006/relationships/notesMaster" Target="/ppt/notesMasters/notesMaster1.xml" Id="R47702b89420441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6293057c5b46a3" /><Relationship Type="http://schemas.openxmlformats.org/officeDocument/2006/relationships/notesMaster" Target="/ppt/notesMasters/notesMaster1.xml" Id="R71b2edccbc5443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fca520266349f8" /><Relationship Type="http://schemas.openxmlformats.org/officeDocument/2006/relationships/notesMaster" Target="/ppt/notesMasters/notesMaster1.xml" Id="R13db5b9477a34d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47890017a2489e" /><Relationship Type="http://schemas.openxmlformats.org/officeDocument/2006/relationships/notesMaster" Target="/ppt/notesMasters/notesMaster1.xml" Id="Ra0679508ab0e46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99636563d44c0e" /><Relationship Type="http://schemas.openxmlformats.org/officeDocument/2006/relationships/notesMaster" Target="/ppt/notesMasters/notesMaster1.xml" Id="R90d6883dcec646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framing follows the supplied Study 3 work plan. The title preserves the study subject. Software progress is supporting work toward the study outputs; no completion percentage is calculated. The user confirms the frontend on Vercel and Django on Railway. The original report remains unchanged in a separate file.</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https://github.com/Edaokie/zcharmc.monitoring/blob/e0933f5/README.md</a:t>
            </a:r>
          </a:p>
          <a:p xmlns:a="http://schemas.openxmlformats.org/drawingml/2006/main">
            <a:r>
              <a:t>https://github.com/Edaokie/zcharmc.monitoring/blob/e0933f5/docs/OTA_VERIFICATION.md</a:t>
            </a:r>
          </a:p>
          <a:p xmlns:a="http://schemas.openxmlformats.org/drawingml/2006/main">
            <a:r>
              <a:t>https://zcharmc-monitoring.vercel.app/dashboard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transcription. Study 3: Development of Near Real-time Microcomputer-based Monitoring System. Objective 1: Design, develop, and calibrate a microcomputer's integrated CO2 and pH sensing components. Activities: Design microcomputer; Develop the prototype; Calibration of the prototype. Output: CO2 and pH sensing components. Objective 2: Design, develop, and implement a microcomputer-based monitoring platform to track pH values and the captured and released CO2 levels. Activities: Implementation of the sensing components; Foreign Travel 1-Benchmarking and Sample Testing at NIU NCKU, Taiwan (wording as displayed). Output: Implemented sensing components. Objective 3: Implementation and evaluation of near real-time microcomputer-based CO2 and pH level monitoring system. Activity: Implementation and evaluation of the monitoring system. Output: Near real-time sensing components for CO2 and pH sensing. Values 5, 5 and 10 and a blue schedule grid are visible, but their column headings and units are not provided. They are not interpreted as accomplishment percentages, financial amounts, dates or confirmed progress.</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qualitative crosswalk. It distinguishes infrastructure and software implementation from achievement of the sensing outputs. Objective 1 calibration data, Objective 2 hardware sensing implementation and the benchmarking/sample-testing activity, and Objective 3 physical near-real-time evaluation are not established by repository evidence supplied here. No numerical progress score is assigned.</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https://github.com/Edaokie/zcharmc.monitoring/blob/e0933f5/README.md</a:t>
            </a:r>
          </a:p>
          <a:p xmlns:a="http://schemas.openxmlformats.org/drawingml/2006/main">
            <a:r>
              <a:t>https://github.com/Edaokie/zcharmc.monitoring/blob/e0933f5/docs/OTA_VERIFICATION.md</a:t>
            </a:r>
          </a:p>
          <a:p xmlns:a="http://schemas.openxmlformats.org/drawingml/2006/main">
            <a:r>
              <a:t>https://github.com/Edaokie/zcharmc.monitoring/blob/e0933f5/firmware/README.md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 1 output is CO2 and pH sensing components. Do not claim that a compiled ESP32 image is a calibrated sensing prototype. Active CMake builds only src/idf, providing provisioning/Wi-Fi/status/OTA. Native sensor adapters and hardware acceptance remain pending. The generic 4 MB WROOM profile has not been validated against the LilyGO T-SIM7000G diagram. Calibration records may exist outside the repository; none were supplied, so status is not evidenced rather than a claim they do not exist.</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https://github.com/Edaokie/zcharmc.monitoring/blob/e0933f5/firmware/platformio.ini</a:t>
            </a:r>
          </a:p>
          <a:p xmlns:a="http://schemas.openxmlformats.org/drawingml/2006/main">
            <a:r>
              <a:t>https://github.com/Edaokie/zcharmc.monitoring/blob/e0933f5/firmware/src/CMakeLists.txt</a:t>
            </a:r>
          </a:p>
          <a:p xmlns:a="http://schemas.openxmlformats.org/drawingml/2006/main">
            <a:r>
              <a:t>https://github.com/Edaokie/zcharmc.monitoring/blob/e0933f5/firmware/README.md</a:t>
            </a:r>
          </a:p>
          <a:p xmlns:a="http://schemas.openxmlformats.org/drawingml/2006/main">
            <a:r>
              <a:t>https://github.com/Edaokie/zcharmc.monitoring/blob/e0933f5/docs/OTA_VERIFICATION.md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 2 output is Implemented sensing components. The repository implements the web platform and supporting APIs, but active firmware does not yet deliver native sensor telemetry. The plan lists Foreign Travel 1-Benchmarking and Sample Testing at NIU NCKU, Taiwan. No visit, benchmark protocol, sample-test results or travel completion evidence was supplied. Names are retained without inferring expanded institution names or that an activity occurred. Capture/release interpretation requires a validated measurement method; the dashboard comparison/efficiency calculation is not a validated material balance.</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https://github.com/Edaokie/zcharmc.monitoring/blob/e0933f5/README.md</a:t>
            </a:r>
          </a:p>
          <a:p xmlns:a="http://schemas.openxmlformats.org/drawingml/2006/main">
            <a:r>
              <a:t>https://github.com/Edaokie/zcharmc.monitoring/blob/e0933f5/backend/monitoring/views.py</a:t>
            </a:r>
          </a:p>
          <a:p xmlns:a="http://schemas.openxmlformats.org/drawingml/2006/main">
            <a:r>
              <a:t>https://github.com/Edaokie/zcharmc.monitoring/blob/e0933f5/backend/monitoring/services.py</a:t>
            </a:r>
          </a:p>
          <a:p xmlns:a="http://schemas.openxmlformats.org/drawingml/2006/main">
            <a:r>
              <a:t>https://github.com/Edaokie/zcharmc.monitoring/blob/e0933f5/frontend/src/lib/monitoring.ts</a:t>
            </a:r>
          </a:p>
          <a:p xmlns:a="http://schemas.openxmlformats.org/drawingml/2006/main">
            <a:r>
              <a:t>https://zcharmc-monitoring.vercel.app/dashboard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hosted screenshot captured in the original report on 15 October 2026, reused as evidence rather than a new observation. It shows Backend connected, stale inlet/outlet values and missing measurements. Source code uses mock browser sign-in. The screenshot is evidence of deployment and interface behavior only, not calibrated CO2/pH measurements, physical equipment connectivity, near-real-time experiment results or achieved capture efficiency.</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https://zcharmc-monitoring.vercel.app/dashboard</a:t>
            </a:r>
          </a:p>
          <a:p xmlns:a="http://schemas.openxmlformats.org/drawingml/2006/main">
            <a:r>
              <a:t>https://github.com/Edaokie/zcharmc.monitoring/blob/e0933f5/frontend/src/lib/auth.tsx</a:t>
            </a:r>
          </a:p>
          <a:p xmlns:a="http://schemas.openxmlformats.org/drawingml/2006/main">
            <a:r>
              <a:t>https://github.com/Edaokie/zcharmc.monitoring/blob/e0933f5/frontend/src/routes/_app.dashboard.tsx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 3 is implementation and evaluation of the near real-time microcomputer-based CO2 and pH level monitoring system. No physical latency, sensing accuracy, drift or reliability results were supplied. The proposed evidence areas are recommendations for completing evaluation, not additional approved work-plan requirements or reported measurements. Latency should be measured end-to-end using a defined event origin, synchronized clocks where applicable, and a recorded test configuration. The software tests do not substitute for that evaluation.</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https://github.com/Edaokie/zcharmc.monitoring/blob/e0933f5/backend/monitoring/realtime.py</a:t>
            </a:r>
          </a:p>
          <a:p xmlns:a="http://schemas.openxmlformats.org/drawingml/2006/main">
            <a:r>
              <a:t>https://github.com/Edaokie/zcharmc.monitoring/blob/e0933f5/backend/monitoring/services.py</a:t>
            </a:r>
          </a:p>
          <a:p xmlns:a="http://schemas.openxmlformats.org/drawingml/2006/main">
            <a:r>
              <a:t>https://github.com/Edaokie/zcharmc.monitoring/blob/e0933f5/frontend/src/lib/monitoring.ts</a:t>
            </a:r>
          </a:p>
          <a:p xmlns:a="http://schemas.openxmlformats.org/drawingml/2006/main">
            <a:r>
              <a:t>https://github.com/Edaokie/zcharmc.monitoring/blob/e0933f5/docs/OTA_TEST_RECORD.md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OTA and CI/CD are enabling engineering contributions for Objectives 1–3. They are not separate sensing outputs in the supplied plan and must not be counted as calibration or system-evaluation completion. The automatic pipeline implementation is present in source, but owner secrets, actual tagged cloud execution and physical board acceptance have not been independently established. Device assignment remains a human decision. Current code has provisioning and attempt-bookkeeping recovery issues documented in OTA_VERIFICATION.</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https://github.com/Edaokie/zcharmc.monitoring/blob/e0933f5/.github/workflows/firmware-release.yml</a:t>
            </a:r>
          </a:p>
          <a:p xmlns:a="http://schemas.openxmlformats.org/drawingml/2006/main">
            <a:r>
              <a:t>https://github.com/Edaokie/zcharmc.monitoring/blob/e0933f5/firmware/tools/register_release.py</a:t>
            </a:r>
          </a:p>
          <a:p xmlns:a="http://schemas.openxmlformats.org/drawingml/2006/main">
            <a:r>
              <a:t>https://github.com/Edaokie/zcharmc.monitoring/blob/e0933f5/backend/monitoring/release_registration.py</a:t>
            </a:r>
          </a:p>
          <a:p xmlns:a="http://schemas.openxmlformats.org/drawingml/2006/main">
            <a:r>
              <a:t>https://github.com/Edaokie/zcharmc.monitoring/blob/e0933f5/docs/FIRMWARE_CICD.md</a:t>
            </a:r>
          </a:p>
          <a:p xmlns:a="http://schemas.openxmlformats.org/drawingml/2006/main">
            <a:r>
              <a:t>https://github.com/Edaokie/zcharmc.monitoring/blob/e0933f5/docs/OTA_VERIFICATION.md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Preserves the original report counts. 39 backend tests and 10 firmware host tests passed in the latest 15 October 2026 rerun. Backend tests used isolated SQLite. 10 frontend tests and all three native builds passed earlier in that review, together with frontend type/build checks. Host tests execute Python/OpenSSL packaging/client logic, not ESP32 application C on hardware. Tests have no one-to-one percentage mapping to the study outputs.</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https://github.com/Edaokie/zcharmc.monitoring/blob/e0933f5/docs/OTA_VERIFICATION.md</a:t>
            </a:r>
          </a:p>
          <a:p xmlns:a="http://schemas.openxmlformats.org/drawingml/2006/main">
            <a:r>
              <a:t>Original project progress report and local test evidence from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Evidence-gap matrix follows the supplied activities/output structure. No evidence of foreign travel or sample testing was supplied. Do not infer that these activities were cancelled, delayed or completed. Additional source-review risks include mock login, WebSocket thread capacity, report pagination/timezone accuracy, device-origin validation and provisioning recovery. Resolve those relevant to measurement/evaluation before treating the prototype as operationally accepted. No schedule or percentage is inferred from the unlabeled grid.</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https://github.com/Edaokie/zcharmc.monitoring/blob/e0933f5/docs/OTA_BEGINNERS_GUIDE.md</a:t>
            </a:r>
          </a:p>
          <a:p xmlns:a="http://schemas.openxmlformats.org/drawingml/2006/main">
            <a:r>
              <a:t>https://github.com/Edaokie/zcharmc.monitoring/blob/e0933f5/docs/OTA_TEST_RECORD.md</a:t>
            </a:r>
          </a:p>
          <a:p xmlns:a="http://schemas.openxmlformats.org/drawingml/2006/main">
            <a:r>
              <a:t>https://github.com/Edaokie/zcharmc.monitoring/blob/e0933f5/docs/OTA_VERIFICATION.md</a:t>
            </a:r>
          </a:p>
          <a:p xmlns:a="http://schemas.openxmlformats.org/drawingml/2006/main">
            <a:r>
              <a:t>https://github.com/Edaokie/zcharmc.monitoring/blob/e0933f5/frontend/src/routes/_app.reports.tsx</a:t>
            </a:r>
          </a:p>
          <a:p xmlns:a="http://schemas.openxmlformats.org/drawingml/2006/main">
            <a:r>
              <a:t>https://github.com/Edaokie/zcharmc.monitoring/blob/e0933f5/backend/gunicorn.conf.py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sequence is a proposed reporting and engineering plan. It is not a new approved timetable, grant requirement or claim of percent completion. Cloud release setup and device acceptance are supporting steps. Hardware calibration and integrated measurement work depend on the actual sensor models and hardware configuration, which must be confirmed. Benchmarking evidence should be included only when supported by the responsible project records.</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https://github.com/Edaokie/zcharmc.monitoring/blob/e0933f5/docs/OTA_BEGINNERS_GUIDE.md</a:t>
            </a:r>
          </a:p>
          <a:p xmlns:a="http://schemas.openxmlformats.org/drawingml/2006/main">
            <a:r>
              <a:t>https://github.com/Edaokie/zcharmc.monitoring/blob/e0933f5/docs/OTA_TEST_RECORD.md</a:t>
            </a:r>
          </a:p>
          <a:p xmlns:a="http://schemas.openxmlformats.org/drawingml/2006/main">
            <a:r>
              <a:t>https://github.com/Edaokie/zcharmc.monitoring/blob/e0933f5/README.md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progress-report wording, grounded in the available software/source evidence and the user-confirmed hosting status. It deliberately avoids claiming calibration, benchmarking travel, physical sensing, capture/release measurement or near-real-time evaluation has been completed. Exact deployed backend commit and successful cloud/physical OTA execution still need confirmation. The original work-plan excerpt has incomplete schedule/weight headers, so no numeric accomplishment assessment is provided.</a:t>
            </a:r>
          </a:p>
          <a:p xmlns:a="http://schemas.openxmlformats.org/drawingml/2006/main">
            <a:r>
              <a:t/>
            </a:r>
          </a:p>
          <a:p xmlns:a="http://schemas.openxmlformats.org/drawingml/2006/main">
            <a:r>
              <a:t>Sources and evidence:</a:t>
            </a:r>
          </a:p>
          <a:p xmlns:a="http://schemas.openxmlformats.org/drawingml/2006/main">
            <a:r>
              <a:t>User-supplied Study 3 work-plan excerpt, codex-clipboard-1e0460cd-ba95-4c86-b68d-7b88cef4d70e.png, supplied 15 October 2026.</a:t>
            </a:r>
          </a:p>
          <a:p xmlns:a="http://schemas.openxmlformats.org/drawingml/2006/main">
            <a:r>
              <a:t>https://zcharmc-monitoring.vercel.app/dashboard</a:t>
            </a:r>
          </a:p>
          <a:p xmlns:a="http://schemas.openxmlformats.org/drawingml/2006/main">
            <a:r>
              <a:t>https://github.com/Edaokie/zcharmc.monitoring/blob/e0933f5/README.md</a:t>
            </a:r>
          </a:p>
          <a:p xmlns:a="http://schemas.openxmlformats.org/drawingml/2006/main">
            <a:r>
              <a:t>https://github.com/Edaokie/zcharmc.monitoring/blob/e0933f5/docs/OTA_VERIFICATION.md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045a9a5cbb48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c4dc6bd73649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7cb87fd50744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3b609382eb45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14a2578b2344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8bf86100594b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DE19A1-0B18-4124-8E58-619B643E5A6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6D02AF-F10C-405C-B592-720868C6A3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DAA819-5BBF-4E58-87C7-444C886728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E4738A-C794-420C-A6BF-5CA8C73F4A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4D39CF-1B94-4CA1-B828-C79FBCDE84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313244-55C1-4931-ACE9-7A7344524C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D16FDC-A8CB-404A-89BD-B640906B06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93E8E3-EA7B-4F21-B7B7-B5BC46F323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F4831C-D29D-455C-B5EE-EA702C70F9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789761-FCCB-4BAC-98A7-7BB951A85A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60e053b0d94912" /><Relationship Type="http://schemas.openxmlformats.org/officeDocument/2006/relationships/slideLayout" Target="/ppt/slideLayouts/slideLayout1.xml" Id="R250dfeb9d0624fd2" /><Relationship Type="http://schemas.openxmlformats.org/officeDocument/2006/relationships/slideLayout" Target="/ppt/slideLayouts/slideLayout2.xml" Id="R7579262c37664ead" /><Relationship Type="http://schemas.openxmlformats.org/officeDocument/2006/relationships/slideLayout" Target="/ppt/slideLayouts/slideLayout3.xml" Id="Rf13a8020c8ea4bf0" /><Relationship Type="http://schemas.openxmlformats.org/officeDocument/2006/relationships/slideLayout" Target="/ppt/slideLayouts/slideLayout4.xml" Id="Rf08092bf4f774f14" /><Relationship Type="http://schemas.openxmlformats.org/officeDocument/2006/relationships/slideLayout" Target="/ppt/slideLayouts/slideLayout5.xml" Id="R85a15390f93248f1" /><Relationship Type="http://schemas.openxmlformats.org/officeDocument/2006/relationships/slideLayout" Target="/ppt/slideLayouts/slideLayout6.xml" Id="Rc189d282e6d748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0dfeb9d0624fd2"/>
    <p:sldLayoutId xmlns:r="http://schemas.openxmlformats.org/officeDocument/2006/relationships" id="2147483650" r:id="R7579262c37664ead"/>
    <p:sldLayoutId xmlns:r="http://schemas.openxmlformats.org/officeDocument/2006/relationships" id="2147483651" r:id="Rf13a8020c8ea4bf0"/>
    <p:sldLayoutId xmlns:r="http://schemas.openxmlformats.org/officeDocument/2006/relationships" id="2147483652" r:id="Rf08092bf4f774f14"/>
    <p:sldLayoutId xmlns:r="http://schemas.openxmlformats.org/officeDocument/2006/relationships" id="2147483653" r:id="R85a15390f93248f1"/>
    <p:sldLayoutId xmlns:r="http://schemas.openxmlformats.org/officeDocument/2006/relationships" id="2147483654" r:id="Rc189d282e6d748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3867de4ae94085" /><Relationship Type="http://schemas.openxmlformats.org/officeDocument/2006/relationships/notesSlide" Target="/ppt/notesSlides/notesSlide1.xml" Id="R47cf499bf8314d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0eaf5b93e94cfe" /><Relationship Type="http://schemas.openxmlformats.org/officeDocument/2006/relationships/image" Target="/ppt/media/image.png" Id="R5a49ce5cb8bc4a67" /><Relationship Type="http://schemas.openxmlformats.org/officeDocument/2006/relationships/notesSlide" Target="/ppt/notesSlides/notesSlide2.xml" Id="Rc907aba0eb5e49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a2f8577c624aac" /><Relationship Type="http://schemas.openxmlformats.org/officeDocument/2006/relationships/notesSlide" Target="/ppt/notesSlides/notesSlide3.xml" Id="R1c8a187f77a344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0dfd1fb9314679" /><Relationship Type="http://schemas.openxmlformats.org/officeDocument/2006/relationships/notesSlide" Target="/ppt/notesSlides/notesSlide4.xml" Id="R3aede66a40b642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74eda8b26640ca" /><Relationship Type="http://schemas.openxmlformats.org/officeDocument/2006/relationships/notesSlide" Target="/ppt/notesSlides/notesSlide5.xml" Id="Ra7a9280ad9484b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0e7e8ac48545ac" /><Relationship Type="http://schemas.openxmlformats.org/officeDocument/2006/relationships/image" Target="/ppt/media/image.jpeg" Id="R8d05fb6561ee4057" /><Relationship Type="http://schemas.openxmlformats.org/officeDocument/2006/relationships/notesSlide" Target="/ppt/notesSlides/notesSlide6.xml" Id="R64dc64da9ad74a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cd5fb279524f26" /><Relationship Type="http://schemas.openxmlformats.org/officeDocument/2006/relationships/notesSlide" Target="/ppt/notesSlides/notesSlide7.xml" Id="Rd8a05d62b4e049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741b1e91594c03" /><Relationship Type="http://schemas.openxmlformats.org/officeDocument/2006/relationships/notesSlide" Target="/ppt/notesSlides/notesSlide8.xml" Id="Rcc29c57d146d47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5525feb9114537" /><Relationship Type="http://schemas.openxmlformats.org/officeDocument/2006/relationships/notesSlide" Target="/ppt/notesSlides/notesSlide9.xml" Id="R13b5640bb74e49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b0e311122a4171" /><Relationship Type="http://schemas.openxmlformats.org/officeDocument/2006/relationships/notesSlide" Target="/ppt/notesSlides/notesSlide10.xml" Id="R918989e71eb645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67bba16d2ac4ddd" /><Relationship Type="http://schemas.openxmlformats.org/officeDocument/2006/relationships/notesSlide" Target="/ppt/notesSlides/notesSlide11.xml" Id="R489cc9b7125b4b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9f55a45453424d" /><Relationship Type="http://schemas.openxmlformats.org/officeDocument/2006/relationships/notesSlide" Target="/ppt/notesSlides/notesSlide12.xml" Id="Ra4a901ba59e54a4f" /></Relationships>
</file>

<file path=ppt/slides/slide1.xml><?xml version="1.0" encoding="utf-8"?>
<p:sld xmlns:p="http://schemas.openxmlformats.org/presentationml/2006/main">
  <p:cSld>
    <p:bg>
      <p:bgPr>
        <a:solidFill xmlns:a="http://schemas.openxmlformats.org/drawingml/2006/main">
          <a:srgbClr val="102A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806560-4861-4FBE-8B2C-A83C644EB16D}"/>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BBD4D0"/>
                </a:solidFill>
                <a:latin typeface="Helvetica Neue"/>
                <a:ea typeface="Helvetica Neue"/>
                <a:cs typeface="Helvetica Neue"/>
              </a:defRPr>
            </a:defPPr>
          </a:lstStyle>
          <a:p xmlns:a="http://schemas.openxmlformats.org/drawingml/2006/main">
            <a:pPr>
              <a:defRPr sz="1200" b="0">
                <a:solidFill>
                  <a:srgbClr val="BBD4D0"/>
                </a:solidFill>
                <a:latin typeface="Helvetica Neue"/>
                <a:ea typeface="Helvetica Neue"/>
                <a:cs typeface="Helvetica Neue"/>
              </a:defRPr>
            </a:pPr>
            <a:r>
              <a:rPr sz="1200" b="0">
                <a:solidFill>
                  <a:srgbClr val="BBD4D0"/>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AE1E1EEE-64EA-4EF9-97CA-402B1F26ED07}"/>
              </a:ext>
            </a:extLst>
          </p:cNvPr>
          <p:cNvSpPr>
            <a:spLocks xmlns:a="http://schemas.openxmlformats.org/drawingml/2006/main" noGrp="1"/>
          </p:cNvSpPr>
          <p:nvPr/>
        </p:nvSpPr>
        <p:spPr>
          <a:xfrm xmlns:a="http://schemas.openxmlformats.org/drawingml/2006/main">
            <a:off x="647700" y="6667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1">
                <a:solidFill>
                  <a:srgbClr val="A5D6CE"/>
                </a:solidFill>
                <a:latin typeface="Helvetica Neue"/>
                <a:ea typeface="Helvetica Neue"/>
                <a:cs typeface="Helvetica Neue"/>
              </a:defRPr>
            </a:defPPr>
          </a:lstStyle>
          <a:p xmlns:a="http://schemas.openxmlformats.org/drawingml/2006/main">
            <a:pPr>
              <a:defRPr sz="1350" b="1">
                <a:solidFill>
                  <a:srgbClr val="A5D6CE"/>
                </a:solidFill>
                <a:latin typeface="Helvetica Neue"/>
                <a:ea typeface="Helvetica Neue"/>
                <a:cs typeface="Helvetica Neue"/>
              </a:defRPr>
            </a:pPr>
            <a:r>
              <a:rPr sz="1350" b="1">
                <a:solidFill>
                  <a:srgbClr val="A5D6CE"/>
                </a:solidFill>
                <a:latin typeface="Helvetica Neue"/>
                <a:ea typeface="Helvetica Neue"/>
                <a:cs typeface="Helvetica Neue"/>
              </a:rPr>
              <a:t>STUDY 3 PROGRESS REPORT</a:t>
            </a:r>
          </a:p>
        </p:txBody>
      </p:sp>
      <p:sp>
        <p:nvSpPr>
          <p:cNvPr id="3" name="">
            <a:extLst xmlns:a="http://schemas.openxmlformats.org/drawingml/2006/main">
              <a:ext uri="{FF2B5EF4-FFF2-40B4-BE49-F238E27FC236}">
                <a16:creationId xmlns:a16="http://schemas.microsoft.com/office/drawing/2014/main" id="{C8130974-B932-494A-93FD-91BDC0AAFA58}"/>
              </a:ext>
            </a:extLst>
          </p:cNvPr>
          <p:cNvSpPr>
            <a:spLocks xmlns:a="http://schemas.openxmlformats.org/drawingml/2006/main" noGrp="1"/>
          </p:cNvSpPr>
          <p:nvPr/>
        </p:nvSpPr>
        <p:spPr>
          <a:xfrm xmlns:a="http://schemas.openxmlformats.org/drawingml/2006/main">
            <a:off x="609600" y="1619250"/>
            <a:ext cx="109728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FFFFFF"/>
                </a:solidFill>
                <a:latin typeface="Helvetica Neue"/>
                <a:ea typeface="Helvetica Neue"/>
                <a:cs typeface="Helvetica Neue"/>
              </a:defRPr>
            </a:defPPr>
          </a:lstStyle>
          <a:p xmlns:a="http://schemas.openxmlformats.org/drawingml/2006/main">
            <a:pPr>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Development of Near Real-time</a:t>
            </a:r>
          </a:p>
          <a:p xmlns:a="http://schemas.openxmlformats.org/drawingml/2006/main">
            <a:pPr>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Microcomputer-based</a:t>
            </a:r>
          </a:p>
          <a:p xmlns:a="http://schemas.openxmlformats.org/drawingml/2006/main">
            <a:pPr>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Monitoring System</a:t>
            </a:r>
          </a:p>
        </p:txBody>
      </p:sp>
      <p:sp>
        <p:nvSpPr>
          <p:cNvPr id="4" name="">
            <a:extLst xmlns:a="http://schemas.openxmlformats.org/drawingml/2006/main">
              <a:ext uri="{FF2B5EF4-FFF2-40B4-BE49-F238E27FC236}">
                <a16:creationId xmlns:a16="http://schemas.microsoft.com/office/drawing/2014/main" id="{6BF37364-29E1-4E80-B6A2-42B554D7DA16}"/>
              </a:ext>
            </a:extLst>
          </p:cNvPr>
          <p:cNvSpPr>
            <a:spLocks xmlns:a="http://schemas.openxmlformats.org/drawingml/2006/main" noGrp="1"/>
          </p:cNvSpPr>
          <p:nvPr/>
        </p:nvSpPr>
        <p:spPr>
          <a:xfrm xmlns:a="http://schemas.openxmlformats.org/drawingml/2006/main">
            <a:off x="647700" y="42481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C5DED8"/>
                </a:solidFill>
                <a:latin typeface="Helvetica Neue"/>
                <a:ea typeface="Helvetica Neue"/>
                <a:cs typeface="Helvetica Neue"/>
              </a:defRPr>
            </a:defPPr>
          </a:lstStyle>
          <a:p xmlns:a="http://schemas.openxmlformats.org/drawingml/2006/main">
            <a:pPr>
              <a:defRPr sz="2175" b="0">
                <a:solidFill>
                  <a:srgbClr val="C5DED8"/>
                </a:solidFill>
                <a:latin typeface="Helvetica Neue"/>
                <a:ea typeface="Helvetica Neue"/>
                <a:cs typeface="Helvetica Neue"/>
              </a:defRPr>
            </a:pPr>
            <a:r>
              <a:rPr sz="2175" b="0">
                <a:solidFill>
                  <a:srgbClr val="C5DED8"/>
                </a:solidFill>
                <a:latin typeface="Helvetica Neue"/>
                <a:ea typeface="Helvetica Neue"/>
                <a:cs typeface="Helvetica Neue"/>
              </a:rPr>
              <a:t>ZCharMC repository progress mapped to the work plan</a:t>
            </a:r>
          </a:p>
        </p:txBody>
      </p:sp>
      <p:sp>
        <p:nvSpPr>
          <p:cNvPr id="5" name="">
            <a:extLst xmlns:a="http://schemas.openxmlformats.org/drawingml/2006/main">
              <a:ext uri="{FF2B5EF4-FFF2-40B4-BE49-F238E27FC236}">
                <a16:creationId xmlns:a16="http://schemas.microsoft.com/office/drawing/2014/main" id="{419B0A0D-0555-4837-8AEC-C03B75226E9D}"/>
              </a:ext>
            </a:extLst>
          </p:cNvPr>
          <p:cNvSpPr>
            <a:spLocks xmlns:a="http://schemas.openxmlformats.org/drawingml/2006/main" noGrp="1"/>
          </p:cNvSpPr>
          <p:nvPr/>
        </p:nvSpPr>
        <p:spPr>
          <a:xfrm xmlns:a="http://schemas.openxmlformats.org/drawingml/2006/main">
            <a:off x="647700" y="5095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FFFFF"/>
                </a:solidFill>
                <a:latin typeface="Helvetica Neue"/>
                <a:ea typeface="Helvetica Neue"/>
                <a:cs typeface="Helvetica Neue"/>
              </a:defRPr>
            </a:defPPr>
          </a:lstStyle>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Web platform deployed</a:t>
            </a:r>
          </a:p>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Sensor integration and evaluation remain pending</a:t>
            </a:r>
          </a:p>
        </p:txBody>
      </p:sp>
      <p:sp>
        <p:nvSpPr>
          <p:cNvPr id="6" name="">
            <a:extLst xmlns:a="http://schemas.openxmlformats.org/drawingml/2006/main">
              <a:ext uri="{FF2B5EF4-FFF2-40B4-BE49-F238E27FC236}">
                <a16:creationId xmlns:a16="http://schemas.microsoft.com/office/drawing/2014/main" id="{58A314D7-DEC8-451B-B32D-F17B70AC995A}"/>
              </a:ext>
            </a:extLst>
          </p:cNvPr>
          <p:cNvSpPr>
            <a:spLocks xmlns:a="http://schemas.openxmlformats.org/drawingml/2006/main" noGrp="1"/>
          </p:cNvSpPr>
          <p:nvPr/>
        </p:nvSpPr>
        <p:spPr>
          <a:xfrm xmlns:a="http://schemas.openxmlformats.org/drawingml/2006/main">
            <a:off x="647700" y="6191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BBD4D0"/>
                </a:solidFill>
                <a:latin typeface="Helvetica Neue"/>
                <a:ea typeface="Helvetica Neue"/>
                <a:cs typeface="Helvetica Neue"/>
              </a:defRPr>
            </a:defPPr>
          </a:lstStyle>
          <a:p xmlns:a="http://schemas.openxmlformats.org/drawingml/2006/main">
            <a:pPr>
              <a:defRPr sz="1500" b="0">
                <a:solidFill>
                  <a:srgbClr val="BBD4D0"/>
                </a:solidFill>
                <a:latin typeface="Helvetica Neue"/>
                <a:ea typeface="Helvetica Neue"/>
                <a:cs typeface="Helvetica Neue"/>
              </a:defRPr>
            </a:pPr>
            <a:r>
              <a:rPr sz="1500" b="0">
                <a:solidFill>
                  <a:srgbClr val="BBD4D0"/>
                </a:solidFill>
                <a:latin typeface="Helvetica Neue"/>
                <a:ea typeface="Helvetica Neue"/>
                <a:cs typeface="Helvetica Neue"/>
              </a:rPr>
              <a:t>15 October 2026</a:t>
            </a:r>
          </a:p>
        </p:txBody>
      </p:sp>
    </p:spTree>
    <p:extLst>
      <p:ext uri="{BB962C8B-B14F-4D97-AF65-F5344CB8AC3E}">
        <p14:creationId xmlns:p14="http://schemas.microsoft.com/office/powerpoint/2010/main" val="821001934"/>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2C62EB-6660-4BAF-9C90-01BFD401F6A8}"/>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Study 3 work-plan basis</a:t>
            </a:r>
          </a:p>
        </p:txBody>
      </p:sp>
      <p:sp>
        <p:nvSpPr>
          <p:cNvPr id="2" name="">
            <a:extLst xmlns:a="http://schemas.openxmlformats.org/drawingml/2006/main">
              <a:ext uri="{FF2B5EF4-FFF2-40B4-BE49-F238E27FC236}">
                <a16:creationId xmlns:a16="http://schemas.microsoft.com/office/drawing/2014/main" id="{E72BB595-62E1-4C8C-B478-8A516128A784}"/>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Three planned outputs provide the structure for this progress report.</a:t>
            </a:r>
          </a:p>
        </p:txBody>
      </p:sp>
      <p:sp>
        <p:nvSpPr>
          <p:cNvPr id="3" name="">
            <a:extLst xmlns:a="http://schemas.openxmlformats.org/drawingml/2006/main">
              <a:ext uri="{FF2B5EF4-FFF2-40B4-BE49-F238E27FC236}">
                <a16:creationId xmlns:a16="http://schemas.microsoft.com/office/drawing/2014/main" id="{1B246ED2-E316-42DD-B5D2-FCBF62A4AF12}"/>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02</a:t>
            </a:r>
          </a:p>
        </p:txBody>
      </p:sp>
      <p:pic>
        <p:nvPicPr>
          <p:cNvPr id="4" name="">
            <a:extLst xmlns:a="http://schemas.openxmlformats.org/drawingml/2006/main">
              <a:ext uri="{FF2B5EF4-FFF2-40B4-BE49-F238E27FC236}">
                <a16:creationId xmlns:a16="http://schemas.microsoft.com/office/drawing/2014/main" id="{3B109294-3100-48BE-9F14-71647CD4FBAC}"/>
              </a:ext>
            </a:extLst>
          </p:cNvPr>
          <p:cNvPicPr>
            <a:picLocks xmlns:a="http://schemas.openxmlformats.org/drawingml/2006/main" noChangeAspect="1"/>
          </p:cNvPicPr>
          <p:nvPr/>
        </p:nvPicPr>
        <p:blipFill>
          <a:blip xmlns:r="http://schemas.openxmlformats.org/officeDocument/2006/relationships" xmlns:a="http://schemas.openxmlformats.org/drawingml/2006/main" r:embed="R5a49ce5cb8bc4a67"/>
          <a:stretch xmlns:a="http://schemas.openxmlformats.org/drawingml/2006/main"/>
        </p:blipFill>
        <p:spPr>
          <a:xfrm xmlns:a="http://schemas.openxmlformats.org/drawingml/2006/main">
            <a:off x="609600" y="1905298"/>
            <a:ext cx="10972800" cy="166628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00635350-22F3-47F7-BECB-E19CF301B2F6}"/>
              </a:ext>
            </a:extLst>
          </p:cNvPr>
          <p:cNvGraphicFramePr/>
          <p:nvPr/>
        </p:nvGraphicFramePr>
        <p:xfrm>
          <a:off xmlns:a="http://schemas.openxmlformats.org/drawingml/2006/main" x="609600" y="3857625"/>
          <a:ext xmlns:a="http://schemas.openxmlformats.org/drawingml/2006/main" cx="10972800" cy="2190750"/>
        </p:xfrm>
        <a:graphic xmlns:a="http://schemas.openxmlformats.org/drawingml/2006/main">
          <a:graphicData uri="http://schemas.openxmlformats.org/drawingml/2006/table">
            <a:tbl>
              <a:tblPr/>
              <a:tblGrid>
                <a:gridCol w="2476500"/>
                <a:gridCol w="8496300"/>
              </a:tblGrid>
              <a:tr h="552450">
                <a:tc>
                  <a:txBody>
                    <a:bodyPr/>
                    <a:lstStyle/>
                    <a:p>
                      <a:r>
                        <a:rPr sz="1500" b="1">
                          <a:solidFill>
                            <a:srgbClr val="FFFFFF"/>
                          </a:solidFill>
                          <a:latin typeface="Helvetica Neue"/>
                          <a:ea typeface="Helvetica Neue"/>
                          <a:cs typeface="Helvetica Neue"/>
                        </a:rPr>
                        <a:t>Work-plan row</a:t>
                      </a:r>
                    </a:p>
                  </a:txBody>
                  <a:tcPr marL="152400" marR="152400" marT="76200" marB="762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Expected output in the supplied plan</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546100">
                <a:tc>
                  <a:txBody>
                    <a:bodyPr/>
                    <a:lstStyle/>
                    <a:p>
                      <a:r>
                        <a:rPr sz="1725" b="0">
                          <a:solidFill>
                            <a:srgbClr val="102A35"/>
                          </a:solidFill>
                          <a:latin typeface="Helvetica Neue"/>
                          <a:ea typeface="Helvetica Neue"/>
                          <a:cs typeface="Helvetica Neue"/>
                        </a:rPr>
                        <a:t>Objective 1</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725" b="0">
                          <a:solidFill>
                            <a:srgbClr val="102A35"/>
                          </a:solidFill>
                          <a:latin typeface="Helvetica Neue"/>
                          <a:ea typeface="Helvetica Neue"/>
                          <a:cs typeface="Helvetica Neue"/>
                        </a:rPr>
                        <a:t>CO₂ and pH sensing components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546100">
                <a:tc>
                  <a:txBody>
                    <a:bodyPr/>
                    <a:lstStyle/>
                    <a:p>
                      <a:r>
                        <a:rPr sz="1725" b="0">
                          <a:solidFill>
                            <a:srgbClr val="102A35"/>
                          </a:solidFill>
                          <a:latin typeface="Helvetica Neue"/>
                          <a:ea typeface="Helvetica Neue"/>
                          <a:cs typeface="Helvetica Neue"/>
                        </a:rPr>
                        <a:t>Objective 2</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725" b="0">
                          <a:solidFill>
                            <a:srgbClr val="102A35"/>
                          </a:solidFill>
                          <a:latin typeface="Helvetica Neue"/>
                          <a:ea typeface="Helvetica Neue"/>
                          <a:cs typeface="Helvetica Neue"/>
                        </a:rPr>
                        <a:t>Implemented sensing components</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546100">
                <a:tc>
                  <a:txBody>
                    <a:bodyPr/>
                    <a:lstStyle/>
                    <a:p>
                      <a:r>
                        <a:rPr sz="1725" b="0">
                          <a:solidFill>
                            <a:srgbClr val="102A35"/>
                          </a:solidFill>
                          <a:latin typeface="Helvetica Neue"/>
                          <a:ea typeface="Helvetica Neue"/>
                          <a:cs typeface="Helvetica Neue"/>
                        </a:rPr>
                        <a:t>Objective 3</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725" b="0">
                          <a:solidFill>
                            <a:srgbClr val="102A35"/>
                          </a:solidFill>
                          <a:latin typeface="Helvetica Neue"/>
                          <a:ea typeface="Helvetica Neue"/>
                          <a:cs typeface="Helvetica Neue"/>
                        </a:rPr>
                        <a:t>Near real-time sensing components for CO₂ and pH sensing</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05AA21F-8B1C-4936-9487-5575FDAA82A0}"/>
              </a:ext>
            </a:extLst>
          </p:cNvPr>
          <p:cNvSpPr>
            <a:spLocks xmlns:a="http://schemas.openxmlformats.org/drawingml/2006/main" noGrp="1"/>
          </p:cNvSpPr>
          <p:nvPr/>
        </p:nvSpPr>
        <p:spPr>
          <a:xfrm xmlns:a="http://schemas.openxmlformats.org/drawingml/2006/main">
            <a:off x="628650" y="619125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The excerpt has no visible schedule headers or numerical units. No dates or completion rates are inferred.</a:t>
            </a:r>
          </a:p>
        </p:txBody>
      </p:sp>
    </p:spTree>
    <p:extLst>
      <p:ext uri="{BB962C8B-B14F-4D97-AF65-F5344CB8AC3E}">
        <p14:creationId xmlns:p14="http://schemas.microsoft.com/office/powerpoint/2010/main" val="1199218334"/>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CB3046-6120-4EBF-9986-BA5A4BD4230F}"/>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Objective-to-progress mapping</a:t>
            </a:r>
          </a:p>
        </p:txBody>
      </p:sp>
      <p:sp>
        <p:nvSpPr>
          <p:cNvPr id="2" name="">
            <a:extLst xmlns:a="http://schemas.openxmlformats.org/drawingml/2006/main">
              <a:ext uri="{FF2B5EF4-FFF2-40B4-BE49-F238E27FC236}">
                <a16:creationId xmlns:a16="http://schemas.microsoft.com/office/drawing/2014/main" id="{4C2EDAB3-1119-4261-95EE-AB554190CF30}"/>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Repository evidence supports partial implementation. Each study output still requires physical evidence.</a:t>
            </a:r>
          </a:p>
        </p:txBody>
      </p:sp>
      <p:sp>
        <p:nvSpPr>
          <p:cNvPr id="3" name="">
            <a:extLst xmlns:a="http://schemas.openxmlformats.org/drawingml/2006/main">
              <a:ext uri="{FF2B5EF4-FFF2-40B4-BE49-F238E27FC236}">
                <a16:creationId xmlns:a16="http://schemas.microsoft.com/office/drawing/2014/main" id="{8F1D8A36-7442-4A72-AEC9-A9C45077A1CF}"/>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03</a:t>
            </a:r>
          </a:p>
        </p:txBody>
      </p:sp>
      <p:graphicFrame>
        <p:nvGraphicFramePr>
          <p:cNvPr id="4" name="">
            <a:extLst xmlns:a="http://schemas.openxmlformats.org/drawingml/2006/main">
              <a:ext uri="{FF2B5EF4-FFF2-40B4-BE49-F238E27FC236}">
                <a16:creationId xmlns:a16="http://schemas.microsoft.com/office/drawing/2014/main" id="{3DD1F3DC-54B2-4865-A036-D992FD538468}"/>
              </a:ext>
            </a:extLst>
          </p:cNvPr>
          <p:cNvGraphicFramePr/>
          <p:nvPr/>
        </p:nvGraphicFramePr>
        <p:xfrm>
          <a:off xmlns:a="http://schemas.openxmlformats.org/drawingml/2006/main" x="609600" y="2076450"/>
          <a:ext xmlns:a="http://schemas.openxmlformats.org/drawingml/2006/main" cx="10972800" cy="3476625"/>
        </p:xfrm>
        <a:graphic xmlns:a="http://schemas.openxmlformats.org/drawingml/2006/main">
          <a:graphicData uri="http://schemas.openxmlformats.org/drawingml/2006/table">
            <a:tbl>
              <a:tblPr/>
              <a:tblGrid>
                <a:gridCol w="1190625"/>
                <a:gridCol w="2667000"/>
                <a:gridCol w="3686175"/>
                <a:gridCol w="3429000"/>
              </a:tblGrid>
              <a:tr h="552450">
                <a:tc>
                  <a:txBody>
                    <a:bodyPr/>
                    <a:lstStyle/>
                    <a:p>
                      <a:r>
                        <a:rPr sz="1500" b="1">
                          <a:solidFill>
                            <a:srgbClr val="FFFFFF"/>
                          </a:solidFill>
                          <a:latin typeface="Helvetica Neue"/>
                          <a:ea typeface="Helvetica Neue"/>
                          <a:cs typeface="Helvetica Neue"/>
                        </a:rPr>
                        <a:t>Objective</a:t>
                      </a:r>
                    </a:p>
                  </a:txBody>
                  <a:tcPr marL="152400" marR="152400" marT="76200" marB="762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Output focus</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Repository contribution</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Current reporting status</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974725">
                <a:tc>
                  <a:txBody>
                    <a:bodyPr/>
                    <a:lstStyle/>
                    <a:p>
                      <a:r>
                        <a:rPr sz="1650" b="0">
                          <a:solidFill>
                            <a:srgbClr val="102A35"/>
                          </a:solidFill>
                          <a:latin typeface="Helvetica Neue"/>
                          <a:ea typeface="Helvetica Neue"/>
                          <a:cs typeface="Helvetica Neue"/>
                        </a:rPr>
                        <a:t>1</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CO₂ and pH sensing</a:t>
                      </a:r>
                    </a:p>
                    <a:p>
                      <a:r>
                        <a:rPr sz="1650" b="0">
                          <a:solidFill>
                            <a:srgbClr val="102A35"/>
                          </a:solidFill>
                          <a:latin typeface="Helvetica Neue"/>
                          <a:ea typeface="Helvetica Neue"/>
                          <a:cs typeface="Helvetica Neue"/>
                        </a:rPr>
                        <a:t>components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ESP32 roles and shared</a:t>
                      </a:r>
                    </a:p>
                    <a:p>
                      <a:r>
                        <a:rPr sz="1650" b="0">
                          <a:solidFill>
                            <a:srgbClr val="102A35"/>
                          </a:solidFill>
                          <a:latin typeface="Helvetica Neue"/>
                          <a:ea typeface="Helvetica Neue"/>
                          <a:cs typeface="Helvetica Neue"/>
                        </a:rPr>
                        <a:t>firmware infrastructure</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Design/software preparation</a:t>
                      </a:r>
                    </a:p>
                    <a:p>
                      <a:r>
                        <a:rPr sz="1650" b="0">
                          <a:solidFill>
                            <a:srgbClr val="102A35"/>
                          </a:solidFill>
                          <a:latin typeface="Helvetica Neue"/>
                          <a:ea typeface="Helvetica Neue"/>
                          <a:cs typeface="Helvetica Neue"/>
                        </a:rPr>
                        <a:t>Calibration not evidenced</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974725">
                <a:tc>
                  <a:txBody>
                    <a:bodyPr/>
                    <a:lstStyle/>
                    <a:p>
                      <a:r>
                        <a:rPr sz="1650" b="0">
                          <a:solidFill>
                            <a:srgbClr val="102A35"/>
                          </a:solidFill>
                          <a:latin typeface="Helvetica Neue"/>
                          <a:ea typeface="Helvetica Neue"/>
                          <a:cs typeface="Helvetica Neue"/>
                        </a:rPr>
                        <a:t>2</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Implemented sensing</a:t>
                      </a:r>
                    </a:p>
                    <a:p>
                      <a:r>
                        <a:rPr sz="1650" b="0">
                          <a:solidFill>
                            <a:srgbClr val="102A35"/>
                          </a:solidFill>
                          <a:latin typeface="Helvetica Neue"/>
                          <a:ea typeface="Helvetica Neue"/>
                          <a:cs typeface="Helvetica Neue"/>
                        </a:rPr>
                        <a:t>components</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Deployed web interface,</a:t>
                      </a:r>
                    </a:p>
                    <a:p>
                      <a:r>
                        <a:rPr sz="1650" b="0">
                          <a:solidFill>
                            <a:srgbClr val="102A35"/>
                          </a:solidFill>
                          <a:latin typeface="Helvetica Neue"/>
                          <a:ea typeface="Helvetica Neue"/>
                          <a:cs typeface="Helvetica Neue"/>
                        </a:rPr>
                        <a:t>Django APIs and data storage</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Platform software implemented</a:t>
                      </a:r>
                    </a:p>
                    <a:p>
                      <a:r>
                        <a:rPr sz="1650" b="0">
                          <a:solidFill>
                            <a:srgbClr val="102A35"/>
                          </a:solidFill>
                          <a:latin typeface="Helvetica Neue"/>
                          <a:ea typeface="Helvetica Neue"/>
                          <a:cs typeface="Helvetica Neue"/>
                        </a:rPr>
                        <a:t>Physical sensing pending</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974725">
                <a:tc>
                  <a:txBody>
                    <a:bodyPr/>
                    <a:lstStyle/>
                    <a:p>
                      <a:r>
                        <a:rPr sz="1650" b="0">
                          <a:solidFill>
                            <a:srgbClr val="102A35"/>
                          </a:solidFill>
                          <a:latin typeface="Helvetica Neue"/>
                          <a:ea typeface="Helvetica Neue"/>
                          <a:cs typeface="Helvetica Neue"/>
                        </a:rPr>
                        <a:t>3</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Near real-time sensing</a:t>
                      </a:r>
                    </a:p>
                    <a:p>
                      <a:r>
                        <a:rPr sz="1650" b="0">
                          <a:solidFill>
                            <a:srgbClr val="102A35"/>
                          </a:solidFill>
                          <a:latin typeface="Helvetica Neue"/>
                          <a:ea typeface="Helvetica Neue"/>
                          <a:cs typeface="Helvetica Neue"/>
                        </a:rPr>
                        <a:t>components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Live-event transport,</a:t>
                      </a:r>
                    </a:p>
                    <a:p>
                      <a:r>
                        <a:rPr sz="1650" b="0">
                          <a:solidFill>
                            <a:srgbClr val="102A35"/>
                          </a:solidFill>
                          <a:latin typeface="Helvetica Neue"/>
                          <a:ea typeface="Helvetica Neue"/>
                          <a:cs typeface="Helvetica Neue"/>
                        </a:rPr>
                        <a:t>status and software tests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Software checks completed</a:t>
                      </a:r>
                    </a:p>
                    <a:p>
                      <a:r>
                        <a:rPr sz="1650" b="0">
                          <a:solidFill>
                            <a:srgbClr val="102A35"/>
                          </a:solidFill>
                          <a:latin typeface="Helvetica Neue"/>
                          <a:ea typeface="Helvetica Neue"/>
                          <a:cs typeface="Helvetica Neue"/>
                        </a:rPr>
                        <a:t>System evaluation pending</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EDCCB96-B6C1-4FD5-AFA4-669ED102204C}"/>
              </a:ext>
            </a:extLst>
          </p:cNvPr>
          <p:cNvSpPr>
            <a:spLocks xmlns:a="http://schemas.openxmlformats.org/drawingml/2006/main" noGrp="1"/>
          </p:cNvSpPr>
          <p:nvPr/>
        </p:nvSpPr>
        <p:spPr>
          <a:xfrm xmlns:a="http://schemas.openxmlformats.org/drawingml/2006/main">
            <a:off x="62865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Hosted software, successful builds and automated tests do not establish calibrated sensing or study completion.</a:t>
            </a:r>
          </a:p>
        </p:txBody>
      </p:sp>
    </p:spTree>
    <p:extLst>
      <p:ext uri="{BB962C8B-B14F-4D97-AF65-F5344CB8AC3E}">
        <p14:creationId xmlns:p14="http://schemas.microsoft.com/office/powerpoint/2010/main" val="1657921065"/>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CD715A-552D-4915-AEC8-0103DB52EC8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Objective 1: Design and calibration</a:t>
            </a:r>
          </a:p>
        </p:txBody>
      </p:sp>
      <p:sp>
        <p:nvSpPr>
          <p:cNvPr id="2" name="">
            <a:extLst xmlns:a="http://schemas.openxmlformats.org/drawingml/2006/main">
              <a:ext uri="{FF2B5EF4-FFF2-40B4-BE49-F238E27FC236}">
                <a16:creationId xmlns:a16="http://schemas.microsoft.com/office/drawing/2014/main" id="{2DD3CE5F-53E4-48B0-9C9C-96B75CFB5B2E}"/>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Planned work: design the microcomputer, develop the prototype and calibrate its CO₂ and pH sensing.</a:t>
            </a:r>
          </a:p>
        </p:txBody>
      </p:sp>
      <p:sp>
        <p:nvSpPr>
          <p:cNvPr id="3" name="">
            <a:extLst xmlns:a="http://schemas.openxmlformats.org/drawingml/2006/main">
              <a:ext uri="{FF2B5EF4-FFF2-40B4-BE49-F238E27FC236}">
                <a16:creationId xmlns:a16="http://schemas.microsoft.com/office/drawing/2014/main" id="{CAECE2CF-9EE0-457A-9230-100F9834921A}"/>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04</a:t>
            </a:r>
          </a:p>
        </p:txBody>
      </p:sp>
      <p:graphicFrame>
        <p:nvGraphicFramePr>
          <p:cNvPr id="4" name="">
            <a:extLst xmlns:a="http://schemas.openxmlformats.org/drawingml/2006/main">
              <a:ext uri="{FF2B5EF4-FFF2-40B4-BE49-F238E27FC236}">
                <a16:creationId xmlns:a16="http://schemas.microsoft.com/office/drawing/2014/main" id="{91E1F519-E332-4FBF-BF99-AC029B159B03}"/>
              </a:ext>
            </a:extLst>
          </p:cNvPr>
          <p:cNvGraphicFramePr/>
          <p:nvPr/>
        </p:nvGraphicFramePr>
        <p:xfrm>
          <a:off xmlns:a="http://schemas.openxmlformats.org/drawingml/2006/main" x="609600" y="2076450"/>
          <a:ext xmlns:a="http://schemas.openxmlformats.org/drawingml/2006/main" cx="10972800" cy="3143250"/>
        </p:xfrm>
        <a:graphic xmlns:a="http://schemas.openxmlformats.org/drawingml/2006/main">
          <a:graphicData uri="http://schemas.openxmlformats.org/drawingml/2006/table">
            <a:tbl>
              <a:tblPr/>
              <a:tblGrid>
                <a:gridCol w="2857500"/>
                <a:gridCol w="4171950"/>
                <a:gridCol w="3943350"/>
              </a:tblGrid>
              <a:tr h="552450">
                <a:tc>
                  <a:txBody>
                    <a:bodyPr/>
                    <a:lstStyle/>
                    <a:p>
                      <a:r>
                        <a:rPr sz="1500" b="1">
                          <a:solidFill>
                            <a:srgbClr val="FFFFFF"/>
                          </a:solidFill>
                          <a:latin typeface="Helvetica Neue"/>
                          <a:ea typeface="Helvetica Neue"/>
                          <a:cs typeface="Helvetica Neue"/>
                        </a:rPr>
                        <a:t>Planned activity</a:t>
                      </a:r>
                    </a:p>
                  </a:txBody>
                  <a:tcPr marL="152400" marR="152400" marT="76200" marB="762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Available repository evidence</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Evidence still needed</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863600">
                <a:tc>
                  <a:txBody>
                    <a:bodyPr/>
                    <a:lstStyle/>
                    <a:p>
                      <a:r>
                        <a:rPr sz="1650" b="0">
                          <a:solidFill>
                            <a:srgbClr val="102A35"/>
                          </a:solidFill>
                          <a:latin typeface="Helvetica Neue"/>
                          <a:ea typeface="Helvetica Neue"/>
                          <a:cs typeface="Helvetica Neue"/>
                        </a:rPr>
                        <a:t>Design microcomputer</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Inlet, outlet and control roles</a:t>
                      </a:r>
                    </a:p>
                    <a:p>
                      <a:r>
                        <a:rPr sz="1650" b="0">
                          <a:solidFill>
                            <a:srgbClr val="102A35"/>
                          </a:solidFill>
                          <a:latin typeface="Helvetica Neue"/>
                          <a:ea typeface="Helvetica Neue"/>
                          <a:cs typeface="Helvetica Neue"/>
                        </a:rPr>
                        <a:t>ESP-IDF / FreeRTOS foundation</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Confirmed board, wiring and pin map</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863600">
                <a:tc>
                  <a:txBody>
                    <a:bodyPr/>
                    <a:lstStyle/>
                    <a:p>
                      <a:r>
                        <a:rPr sz="1650" b="0">
                          <a:solidFill>
                            <a:srgbClr val="102A35"/>
                          </a:solidFill>
                          <a:latin typeface="Helvetica Neue"/>
                          <a:ea typeface="Helvetica Neue"/>
                          <a:cs typeface="Helvetica Neue"/>
                        </a:rPr>
                        <a:t>Develop the prototype</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Three firmware profiles build</a:t>
                      </a:r>
                    </a:p>
                    <a:p>
                      <a:r>
                        <a:rPr sz="1650" b="0">
                          <a:solidFill>
                            <a:srgbClr val="102A35"/>
                          </a:solidFill>
                          <a:latin typeface="Helvetica Neue"/>
                          <a:ea typeface="Helvetica Neue"/>
                          <a:cs typeface="Helvetica Neue"/>
                        </a:rPr>
                        <a:t>Provisioning and OTA implemented</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Native sensor drivers and bench assembly</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863600">
                <a:tc>
                  <a:txBody>
                    <a:bodyPr/>
                    <a:lstStyle/>
                    <a:p>
                      <a:r>
                        <a:rPr sz="1650" b="0">
                          <a:solidFill>
                            <a:srgbClr val="102A35"/>
                          </a:solidFill>
                          <a:latin typeface="Helvetica Neue"/>
                          <a:ea typeface="Helvetica Neue"/>
                          <a:cs typeface="Helvetica Neue"/>
                        </a:rPr>
                        <a:t>Calibration of prototype</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No calibration results established</a:t>
                      </a:r>
                    </a:p>
                    <a:p>
                      <a:r>
                        <a:rPr sz="1650" b="0">
                          <a:solidFill>
                            <a:srgbClr val="102A35"/>
                          </a:solidFill>
                          <a:latin typeface="Helvetica Neue"/>
                          <a:ea typeface="Helvetica Neue"/>
                          <a:cs typeface="Helvetica Neue"/>
                        </a:rPr>
                        <a:t>by this repository review</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Reference readings, method, error</a:t>
                      </a:r>
                    </a:p>
                    <a:p>
                      <a:r>
                        <a:rPr sz="1650" b="0">
                          <a:solidFill>
                            <a:srgbClr val="102A35"/>
                          </a:solidFill>
                          <a:latin typeface="Helvetica Neue"/>
                          <a:ea typeface="Helvetica Neue"/>
                          <a:cs typeface="Helvetica Neue"/>
                        </a:rPr>
                        <a:t>and repeatability records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F0B175D-7DB3-451E-B4AF-3646B2DC396C}"/>
              </a:ext>
            </a:extLst>
          </p:cNvPr>
          <p:cNvSpPr>
            <a:spLocks xmlns:a="http://schemas.openxmlformats.org/drawingml/2006/main" noGrp="1"/>
          </p:cNvSpPr>
          <p:nvPr/>
        </p:nvSpPr>
        <p:spPr>
          <a:xfrm xmlns:a="http://schemas.openxmlformats.org/drawingml/2006/main">
            <a:off x="638175" y="56007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007F76"/>
                </a:solidFill>
                <a:latin typeface="Helvetica Neue"/>
                <a:ea typeface="Helvetica Neue"/>
                <a:cs typeface="Helvetica Neue"/>
              </a:defRPr>
            </a:defPPr>
          </a:lstStyle>
          <a:p xmlns:a="http://schemas.openxmlformats.org/drawingml/2006/main">
            <a:pPr>
              <a:defRPr sz="1875" b="1">
                <a:solidFill>
                  <a:srgbClr val="007F76"/>
                </a:solidFill>
                <a:latin typeface="Helvetica Neue"/>
                <a:ea typeface="Helvetica Neue"/>
                <a:cs typeface="Helvetica Neue"/>
              </a:defRPr>
            </a:pPr>
            <a:r>
              <a:rPr sz="1875" b="1">
                <a:solidFill>
                  <a:srgbClr val="007F76"/>
                </a:solidFill>
                <a:latin typeface="Helvetica Neue"/>
                <a:ea typeface="Helvetica Neue"/>
                <a:cs typeface="Helvetica Neue"/>
              </a:rPr>
              <a:t>Reportable progress</a:t>
            </a:r>
          </a:p>
        </p:txBody>
      </p:sp>
      <p:sp>
        <p:nvSpPr>
          <p:cNvPr id="6" name="">
            <a:extLst xmlns:a="http://schemas.openxmlformats.org/drawingml/2006/main">
              <a:ext uri="{FF2B5EF4-FFF2-40B4-BE49-F238E27FC236}">
                <a16:creationId xmlns:a16="http://schemas.microsoft.com/office/drawing/2014/main" id="{45F85FD5-3467-4FE5-B079-960CF5778CF6}"/>
              </a:ext>
            </a:extLst>
          </p:cNvPr>
          <p:cNvSpPr>
            <a:spLocks xmlns:a="http://schemas.openxmlformats.org/drawingml/2006/main" noGrp="1"/>
          </p:cNvSpPr>
          <p:nvPr/>
        </p:nvSpPr>
        <p:spPr>
          <a:xfrm xmlns:a="http://schemas.openxmlformats.org/drawingml/2006/main">
            <a:off x="3524250" y="5600700"/>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02A35"/>
                </a:solidFill>
                <a:latin typeface="Helvetica Neue"/>
                <a:ea typeface="Helvetica Neue"/>
                <a:cs typeface="Helvetica Neue"/>
              </a:defRPr>
            </a:defPPr>
          </a:lstStyle>
          <a:p xmlns:a="http://schemas.openxmlformats.org/drawingml/2006/main">
            <a:pPr>
              <a:defRPr sz="1875" b="0">
                <a:solidFill>
                  <a:srgbClr val="102A35"/>
                </a:solidFill>
                <a:latin typeface="Helvetica Neue"/>
                <a:ea typeface="Helvetica Neue"/>
                <a:cs typeface="Helvetica Neue"/>
              </a:defRPr>
            </a:pPr>
            <a:r>
              <a:rPr sz="1875" b="0">
                <a:solidFill>
                  <a:srgbClr val="102A35"/>
                </a:solidFill>
                <a:latin typeface="Helvetica Neue"/>
                <a:ea typeface="Helvetica Neue"/>
                <a:cs typeface="Helvetica Neue"/>
              </a:rPr>
              <a:t>Software architecture and firmware preparation support prototype development.</a:t>
            </a:r>
          </a:p>
        </p:txBody>
      </p:sp>
    </p:spTree>
    <p:extLst>
      <p:ext uri="{BB962C8B-B14F-4D97-AF65-F5344CB8AC3E}">
        <p14:creationId xmlns:p14="http://schemas.microsoft.com/office/powerpoint/2010/main" val="432266360"/>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4C8995-AF0B-4137-8342-15EFEF1DEC0A}"/>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Objective 2: Monitoring platform</a:t>
            </a:r>
          </a:p>
        </p:txBody>
      </p:sp>
      <p:sp>
        <p:nvSpPr>
          <p:cNvPr id="2" name="">
            <a:extLst xmlns:a="http://schemas.openxmlformats.org/drawingml/2006/main">
              <a:ext uri="{FF2B5EF4-FFF2-40B4-BE49-F238E27FC236}">
                <a16:creationId xmlns:a16="http://schemas.microsoft.com/office/drawing/2014/main" id="{A0A48B1B-80B9-4926-86AC-845E677F2605}"/>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Planned work: track pH and captured/released CO₂ levels through an integrated monitoring platform.</a:t>
            </a:r>
          </a:p>
        </p:txBody>
      </p:sp>
      <p:sp>
        <p:nvSpPr>
          <p:cNvPr id="3" name="">
            <a:extLst xmlns:a="http://schemas.openxmlformats.org/drawingml/2006/main">
              <a:ext uri="{FF2B5EF4-FFF2-40B4-BE49-F238E27FC236}">
                <a16:creationId xmlns:a16="http://schemas.microsoft.com/office/drawing/2014/main" id="{4391ACE8-4085-4E81-9B8B-9A95E955C654}"/>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05</a:t>
            </a:r>
          </a:p>
        </p:txBody>
      </p:sp>
      <p:graphicFrame>
        <p:nvGraphicFramePr>
          <p:cNvPr id="4" name="">
            <a:extLst xmlns:a="http://schemas.openxmlformats.org/drawingml/2006/main">
              <a:ext uri="{FF2B5EF4-FFF2-40B4-BE49-F238E27FC236}">
                <a16:creationId xmlns:a16="http://schemas.microsoft.com/office/drawing/2014/main" id="{E4D4DAEA-CB16-4B13-9F3D-70FDBB8BAFC5}"/>
              </a:ext>
            </a:extLst>
          </p:cNvPr>
          <p:cNvGraphicFramePr/>
          <p:nvPr/>
        </p:nvGraphicFramePr>
        <p:xfrm>
          <a:off xmlns:a="http://schemas.openxmlformats.org/drawingml/2006/main" x="609600" y="2076450"/>
          <a:ext xmlns:a="http://schemas.openxmlformats.org/drawingml/2006/main" cx="10972800" cy="3476625"/>
        </p:xfrm>
        <a:graphic xmlns:a="http://schemas.openxmlformats.org/drawingml/2006/main">
          <a:graphicData uri="http://schemas.openxmlformats.org/drawingml/2006/table">
            <a:tbl>
              <a:tblPr/>
              <a:tblGrid>
                <a:gridCol w="2857500"/>
                <a:gridCol w="4191000"/>
                <a:gridCol w="3924300"/>
              </a:tblGrid>
              <a:tr h="552450">
                <a:tc>
                  <a:txBody>
                    <a:bodyPr/>
                    <a:lstStyle/>
                    <a:p>
                      <a:r>
                        <a:rPr sz="1500" b="1">
                          <a:solidFill>
                            <a:srgbClr val="FFFFFF"/>
                          </a:solidFill>
                          <a:latin typeface="Helvetica Neue"/>
                          <a:ea typeface="Helvetica Neue"/>
                          <a:cs typeface="Helvetica Neue"/>
                        </a:rPr>
                        <a:t>Platform element</a:t>
                      </a:r>
                    </a:p>
                  </a:txBody>
                  <a:tcPr marL="152400" marR="152400" marT="76200" marB="762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Implemented contribution</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Study linkage / limit</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731044">
                <a:tc>
                  <a:txBody>
                    <a:bodyPr/>
                    <a:lstStyle/>
                    <a:p>
                      <a:r>
                        <a:rPr sz="1650" b="0">
                          <a:solidFill>
                            <a:srgbClr val="102A35"/>
                          </a:solidFill>
                          <a:latin typeface="Helvetica Neue"/>
                          <a:ea typeface="Helvetica Neue"/>
                          <a:cs typeface="Helvetica Neue"/>
                        </a:rPr>
                        <a:t>Frontend on Vercel</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Charts, readings, reports and alerts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Interface for reviewing CO₂ and pH</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Django on Railway</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Validated ingestion, storage,</a:t>
                      </a:r>
                    </a:p>
                    <a:p>
                      <a:r>
                        <a:rPr sz="1650" b="0">
                          <a:solidFill>
                            <a:srgbClr val="102A35"/>
                          </a:solidFill>
                          <a:latin typeface="Helvetica Neue"/>
                          <a:ea typeface="Helvetica Neue"/>
                          <a:cs typeface="Helvetica Neue"/>
                        </a:rPr>
                        <a:t>query APIs and live-event transport</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Software path for future device readings</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731044">
                <a:tc>
                  <a:txBody>
                    <a:bodyPr/>
                    <a:lstStyle/>
                    <a:p>
                      <a:r>
                        <a:rPr sz="1650" b="0">
                          <a:solidFill>
                            <a:srgbClr val="102A35"/>
                          </a:solidFill>
                          <a:latin typeface="Helvetica Neue"/>
                          <a:ea typeface="Helvetica Neue"/>
                          <a:cs typeface="Helvetica Neue"/>
                        </a:rPr>
                        <a:t>ESP32 integration</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Distinct role images and device identities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Native sensor sampling/uploads pending</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Benchmarking and sample testing</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No supporting evidence supplied</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NIU / NCKU, Taiwan activity in the plan</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bl>
          </a:graphicData>
        </a:graphic>
      </p:graphicFrame>
      <p:sp>
        <p:nvSpPr>
          <p:cNvPr id="5" name="">
            <a:extLst xmlns:a="http://schemas.openxmlformats.org/drawingml/2006/main">
              <a:ext uri="{FF2B5EF4-FFF2-40B4-BE49-F238E27FC236}">
                <a16:creationId xmlns:a16="http://schemas.microsoft.com/office/drawing/2014/main" id="{841EE2E8-66A7-4A61-A288-F17AF66F17AE}"/>
              </a:ext>
            </a:extLst>
          </p:cNvPr>
          <p:cNvSpPr>
            <a:spLocks xmlns:a="http://schemas.openxmlformats.org/drawingml/2006/main" noGrp="1"/>
          </p:cNvSpPr>
          <p:nvPr/>
        </p:nvSpPr>
        <p:spPr>
          <a:xfrm xmlns:a="http://schemas.openxmlformats.org/drawingml/2006/main">
            <a:off x="62865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Concentration displays alone do not establish a validated CO₂ capture/release balance.</a:t>
            </a:r>
          </a:p>
        </p:txBody>
      </p:sp>
    </p:spTree>
    <p:extLst>
      <p:ext uri="{BB962C8B-B14F-4D97-AF65-F5344CB8AC3E}">
        <p14:creationId xmlns:p14="http://schemas.microsoft.com/office/powerpoint/2010/main" val="605132989"/>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C4DB29-6BED-496C-B03B-E4B7023C729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Objective 2: Deployed interface evidence</a:t>
            </a:r>
          </a:p>
        </p:txBody>
      </p:sp>
      <p:sp>
        <p:nvSpPr>
          <p:cNvPr id="2" name="">
            <a:extLst xmlns:a="http://schemas.openxmlformats.org/drawingml/2006/main">
              <a:ext uri="{FF2B5EF4-FFF2-40B4-BE49-F238E27FC236}">
                <a16:creationId xmlns:a16="http://schemas.microsoft.com/office/drawing/2014/main" id="{7964CC2D-C811-497C-8FCC-F34F2E5D3362}"/>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The hosted dashboard demonstrates the web layer of the planned monitoring platform.</a:t>
            </a:r>
          </a:p>
        </p:txBody>
      </p:sp>
      <p:sp>
        <p:nvSpPr>
          <p:cNvPr id="3" name="">
            <a:extLst xmlns:a="http://schemas.openxmlformats.org/drawingml/2006/main">
              <a:ext uri="{FF2B5EF4-FFF2-40B4-BE49-F238E27FC236}">
                <a16:creationId xmlns:a16="http://schemas.microsoft.com/office/drawing/2014/main" id="{324AF942-4175-4599-9EA5-34537FD694FB}"/>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06</a:t>
            </a:r>
          </a:p>
        </p:txBody>
      </p:sp>
      <p:pic>
        <p:nvPicPr>
          <p:cNvPr id="4" name="">
            <a:extLst xmlns:a="http://schemas.openxmlformats.org/drawingml/2006/main">
              <a:ext uri="{FF2B5EF4-FFF2-40B4-BE49-F238E27FC236}">
                <a16:creationId xmlns:a16="http://schemas.microsoft.com/office/drawing/2014/main" id="{8AD87A0B-853B-4A20-B56C-0BA21CEFF408}"/>
              </a:ext>
            </a:extLst>
          </p:cNvPr>
          <p:cNvPicPr>
            <a:picLocks xmlns:a="http://schemas.openxmlformats.org/drawingml/2006/main" noChangeAspect="1"/>
          </p:cNvPicPr>
          <p:nvPr/>
        </p:nvPicPr>
        <p:blipFill>
          <a:blip xmlns:r="http://schemas.openxmlformats.org/officeDocument/2006/relationships" xmlns:a="http://schemas.openxmlformats.org/drawingml/2006/main" r:embed="R8d05fb6561ee4057"/>
          <a:stretch xmlns:a="http://schemas.openxmlformats.org/drawingml/2006/main"/>
        </p:blipFill>
        <p:spPr>
          <a:xfrm xmlns:a="http://schemas.openxmlformats.org/drawingml/2006/main">
            <a:off x="610658" y="2095500"/>
            <a:ext cx="8094133" cy="4552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59C3A93-13FB-4972-9032-FA59221ED718}"/>
              </a:ext>
            </a:extLst>
          </p:cNvPr>
          <p:cNvSpPr>
            <a:spLocks xmlns:a="http://schemas.openxmlformats.org/drawingml/2006/main" noGrp="1"/>
          </p:cNvSpPr>
          <p:nvPr/>
        </p:nvSpPr>
        <p:spPr>
          <a:xfrm xmlns:a="http://schemas.openxmlformats.org/drawingml/2006/main">
            <a:off x="9048750" y="2152650"/>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F76"/>
                </a:solidFill>
                <a:latin typeface="Helvetica Neue"/>
                <a:ea typeface="Helvetica Neue"/>
                <a:cs typeface="Helvetica Neue"/>
              </a:defRPr>
            </a:defPPr>
          </a:lstStyle>
          <a:p xmlns:a="http://schemas.openxmlformats.org/drawingml/2006/main">
            <a:pPr>
              <a:defRPr sz="2100" b="1">
                <a:solidFill>
                  <a:srgbClr val="007F76"/>
                </a:solidFill>
                <a:latin typeface="Helvetica Neue"/>
                <a:ea typeface="Helvetica Neue"/>
                <a:cs typeface="Helvetica Neue"/>
              </a:defRPr>
            </a:pPr>
            <a:r>
              <a:rPr sz="2100" b="1">
                <a:solidFill>
                  <a:srgbClr val="007F76"/>
                </a:solidFill>
                <a:latin typeface="Helvetica Neue"/>
                <a:ea typeface="Helvetica Neue"/>
                <a:cs typeface="Helvetica Neue"/>
              </a:rPr>
              <a:t>Platform evidence</a:t>
            </a:r>
          </a:p>
        </p:txBody>
      </p:sp>
      <p:sp>
        <p:nvSpPr>
          <p:cNvPr id="6" name="">
            <a:extLst xmlns:a="http://schemas.openxmlformats.org/drawingml/2006/main">
              <a:ext uri="{FF2B5EF4-FFF2-40B4-BE49-F238E27FC236}">
                <a16:creationId xmlns:a16="http://schemas.microsoft.com/office/drawing/2014/main" id="{39D61C94-154A-4236-9D52-B057BB485E69}"/>
              </a:ext>
            </a:extLst>
          </p:cNvPr>
          <p:cNvSpPr>
            <a:spLocks xmlns:a="http://schemas.openxmlformats.org/drawingml/2006/main" noGrp="1"/>
          </p:cNvSpPr>
          <p:nvPr/>
        </p:nvSpPr>
        <p:spPr>
          <a:xfrm xmlns:a="http://schemas.openxmlformats.org/drawingml/2006/main">
            <a:off x="9048750" y="2781300"/>
            <a:ext cx="2476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02A35"/>
                </a:solidFill>
                <a:latin typeface="Helvetica Neue"/>
                <a:ea typeface="Helvetica Neue"/>
                <a:cs typeface="Helvetica Neue"/>
              </a:defRPr>
            </a:defPPr>
          </a:lstStyle>
          <a:p xmlns:a="http://schemas.openxmlformats.org/drawingml/2006/main">
            <a:pPr>
              <a:defRPr sz="1800" b="0">
                <a:solidFill>
                  <a:srgbClr val="102A35"/>
                </a:solidFill>
                <a:latin typeface="Helvetica Neue"/>
                <a:ea typeface="Helvetica Neue"/>
                <a:cs typeface="Helvetica Neue"/>
              </a:defRPr>
            </a:pPr>
            <a:r>
              <a:rPr sz="1800" b="0">
                <a:solidFill>
                  <a:srgbClr val="102A35"/>
                </a:solidFill>
                <a:latin typeface="Helvetica Neue"/>
                <a:ea typeface="Helvetica Neue"/>
                <a:cs typeface="Helvetica Neue"/>
              </a:rPr>
              <a:t>Backend connected</a:t>
            </a:r>
          </a:p>
          <a:p xmlns:a="http://schemas.openxmlformats.org/drawingml/2006/main">
            <a:r>
              <a:t/>
            </a:r>
          </a:p>
          <a:p xmlns:a="http://schemas.openxmlformats.org/drawingml/2006/main">
            <a:pPr>
              <a:defRPr sz="1800" b="0">
                <a:solidFill>
                  <a:srgbClr val="102A35"/>
                </a:solidFill>
                <a:latin typeface="Helvetica Neue"/>
                <a:ea typeface="Helvetica Neue"/>
                <a:cs typeface="Helvetica Neue"/>
              </a:defRPr>
            </a:pPr>
            <a:r>
              <a:rPr sz="1800" b="0">
                <a:solidFill>
                  <a:srgbClr val="102A35"/>
                </a:solidFill>
                <a:latin typeface="Helvetica Neue"/>
                <a:ea typeface="Helvetica Neue"/>
                <a:cs typeface="Helvetica Neue"/>
              </a:rPr>
              <a:t>Stored readings and charts</a:t>
            </a:r>
          </a:p>
          <a:p xmlns:a="http://schemas.openxmlformats.org/drawingml/2006/main">
            <a:r>
              <a:t/>
            </a:r>
          </a:p>
          <a:p xmlns:a="http://schemas.openxmlformats.org/drawingml/2006/main">
            <a:pPr>
              <a:defRPr sz="1800" b="0">
                <a:solidFill>
                  <a:srgbClr val="102A35"/>
                </a:solidFill>
                <a:latin typeface="Helvetica Neue"/>
                <a:ea typeface="Helvetica Neue"/>
                <a:cs typeface="Helvetica Neue"/>
              </a:defRPr>
            </a:pPr>
            <a:r>
              <a:rPr sz="1800" b="0">
                <a:solidFill>
                  <a:srgbClr val="102A35"/>
                </a:solidFill>
                <a:latin typeface="Helvetica Neue"/>
                <a:ea typeface="Helvetica Neue"/>
                <a:cs typeface="Helvetica Neue"/>
              </a:rPr>
              <a:t>Stale/missing data shown</a:t>
            </a:r>
          </a:p>
        </p:txBody>
      </p:sp>
      <p:sp>
        <p:nvSpPr>
          <p:cNvPr id="7" name="">
            <a:extLst xmlns:a="http://schemas.openxmlformats.org/drawingml/2006/main">
              <a:ext uri="{FF2B5EF4-FFF2-40B4-BE49-F238E27FC236}">
                <a16:creationId xmlns:a16="http://schemas.microsoft.com/office/drawing/2014/main" id="{FFF4455F-14C5-43A4-864F-BDF2DF4B23F5}"/>
              </a:ext>
            </a:extLst>
          </p:cNvPr>
          <p:cNvSpPr>
            <a:spLocks xmlns:a="http://schemas.openxmlformats.org/drawingml/2006/main" noGrp="1"/>
          </p:cNvSpPr>
          <p:nvPr/>
        </p:nvSpPr>
        <p:spPr>
          <a:xfrm xmlns:a="http://schemas.openxmlformats.org/drawingml/2006/main">
            <a:off x="904875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9B5700"/>
                </a:solidFill>
                <a:latin typeface="Helvetica Neue"/>
                <a:ea typeface="Helvetica Neue"/>
                <a:cs typeface="Helvetica Neue"/>
              </a:defRPr>
            </a:defPPr>
          </a:lstStyle>
          <a:p xmlns:a="http://schemas.openxmlformats.org/drawingml/2006/main">
            <a:pPr>
              <a:defRPr sz="1650" b="0">
                <a:solidFill>
                  <a:srgbClr val="9B5700"/>
                </a:solidFill>
                <a:latin typeface="Helvetica Neue"/>
                <a:ea typeface="Helvetica Neue"/>
                <a:cs typeface="Helvetica Neue"/>
              </a:defRPr>
            </a:pPr>
            <a:r>
              <a:rPr sz="1650" b="0">
                <a:solidFill>
                  <a:srgbClr val="9B5700"/>
                </a:solidFill>
                <a:latin typeface="Helvetica Neue"/>
                <a:ea typeface="Helvetica Neue"/>
                <a:cs typeface="Helvetica Neue"/>
              </a:rPr>
              <a:t>Physical CO₂ / pH sensing</a:t>
            </a:r>
          </a:p>
          <a:p xmlns:a="http://schemas.openxmlformats.org/drawingml/2006/main">
            <a:pPr>
              <a:defRPr sz="1650" b="0">
                <a:solidFill>
                  <a:srgbClr val="9B5700"/>
                </a:solidFill>
                <a:latin typeface="Helvetica Neue"/>
                <a:ea typeface="Helvetica Neue"/>
                <a:cs typeface="Helvetica Neue"/>
              </a:defRPr>
            </a:pPr>
            <a:r>
              <a:rPr sz="1650" b="0">
                <a:solidFill>
                  <a:srgbClr val="9B5700"/>
                </a:solidFill>
                <a:latin typeface="Helvetica Neue"/>
                <a:ea typeface="Helvetica Neue"/>
                <a:cs typeface="Helvetica Neue"/>
              </a:rPr>
              <a:t>not established by this view</a:t>
            </a:r>
          </a:p>
        </p:txBody>
      </p:sp>
    </p:spTree>
    <p:extLst>
      <p:ext uri="{BB962C8B-B14F-4D97-AF65-F5344CB8AC3E}">
        <p14:creationId xmlns:p14="http://schemas.microsoft.com/office/powerpoint/2010/main" val="1261259245"/>
      </p:ext>
    </p:extLst>
  </p:cSld>
</p:sld>
</file>

<file path=ppt/slides/slide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68BF98-74FE-497B-B827-281A7B5D931D}"/>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Objective 3: Implementation and evaluation</a:t>
            </a:r>
          </a:p>
        </p:txBody>
      </p:sp>
      <p:sp>
        <p:nvSpPr>
          <p:cNvPr id="2" name="">
            <a:extLst xmlns:a="http://schemas.openxmlformats.org/drawingml/2006/main">
              <a:ext uri="{FF2B5EF4-FFF2-40B4-BE49-F238E27FC236}">
                <a16:creationId xmlns:a16="http://schemas.microsoft.com/office/drawing/2014/main" id="{A13B3508-8B26-470D-BDBB-FE4609CA9CAF}"/>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Planned output: near real-time sensing components for CO₂ and pH sensing.</a:t>
            </a:r>
          </a:p>
        </p:txBody>
      </p:sp>
      <p:sp>
        <p:nvSpPr>
          <p:cNvPr id="3" name="">
            <a:extLst xmlns:a="http://schemas.openxmlformats.org/drawingml/2006/main">
              <a:ext uri="{FF2B5EF4-FFF2-40B4-BE49-F238E27FC236}">
                <a16:creationId xmlns:a16="http://schemas.microsoft.com/office/drawing/2014/main" id="{3C2BD1DB-6BFA-4783-A7B2-879D81E0E9D6}"/>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07</a:t>
            </a:r>
          </a:p>
        </p:txBody>
      </p:sp>
      <p:graphicFrame>
        <p:nvGraphicFramePr>
          <p:cNvPr id="4" name="">
            <a:extLst xmlns:a="http://schemas.openxmlformats.org/drawingml/2006/main">
              <a:ext uri="{FF2B5EF4-FFF2-40B4-BE49-F238E27FC236}">
                <a16:creationId xmlns:a16="http://schemas.microsoft.com/office/drawing/2014/main" id="{5594FCC1-BAAB-43FD-B5E7-C9C90EE54D28}"/>
              </a:ext>
            </a:extLst>
          </p:cNvPr>
          <p:cNvGraphicFramePr/>
          <p:nvPr/>
        </p:nvGraphicFramePr>
        <p:xfrm>
          <a:off xmlns:a="http://schemas.openxmlformats.org/drawingml/2006/main" x="609600" y="2076450"/>
          <a:ext xmlns:a="http://schemas.openxmlformats.org/drawingml/2006/main" cx="10972800" cy="3476625"/>
        </p:xfrm>
        <a:graphic xmlns:a="http://schemas.openxmlformats.org/drawingml/2006/main">
          <a:graphicData uri="http://schemas.openxmlformats.org/drawingml/2006/table">
            <a:tbl>
              <a:tblPr/>
              <a:tblGrid>
                <a:gridCol w="3048000"/>
                <a:gridCol w="3962400"/>
                <a:gridCol w="3962400"/>
              </a:tblGrid>
              <a:tr h="552450">
                <a:tc>
                  <a:txBody>
                    <a:bodyPr/>
                    <a:lstStyle/>
                    <a:p>
                      <a:r>
                        <a:rPr sz="1500" b="1">
                          <a:solidFill>
                            <a:srgbClr val="FFFFFF"/>
                          </a:solidFill>
                          <a:latin typeface="Helvetica Neue"/>
                          <a:ea typeface="Helvetica Neue"/>
                          <a:cs typeface="Helvetica Neue"/>
                        </a:rPr>
                        <a:t>Evaluation area</a:t>
                      </a:r>
                    </a:p>
                  </a:txBody>
                  <a:tcPr marL="152400" marR="152400" marT="76200" marB="762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Current software contribution</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Physical evidence to collect</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731044">
                <a:tc>
                  <a:txBody>
                    <a:bodyPr/>
                    <a:lstStyle/>
                    <a:p>
                      <a:r>
                        <a:rPr sz="1650" b="0">
                          <a:solidFill>
                            <a:srgbClr val="102A35"/>
                          </a:solidFill>
                          <a:latin typeface="Helvetica Neue"/>
                          <a:ea typeface="Helvetica Neue"/>
                          <a:cs typeface="Helvetica Neue"/>
                        </a:rPr>
                        <a:t>Measurement correctness</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Finite values, bounds and timestamps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CO₂/pH comparison with references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Near real-time response</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Socket.IO updates and freshness display</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Measurement-to-display latency</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731044">
                <a:tc>
                  <a:txBody>
                    <a:bodyPr/>
                    <a:lstStyle/>
                    <a:p>
                      <a:r>
                        <a:rPr sz="1650" b="0">
                          <a:solidFill>
                            <a:srgbClr val="102A35"/>
                          </a:solidFill>
                          <a:latin typeface="Helvetica Neue"/>
                          <a:ea typeface="Helvetica Neue"/>
                          <a:cs typeface="Helvetica Neue"/>
                        </a:rPr>
                        <a:t>Reliability and continuity</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Persistence, deduplication, reconnect state</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Outage/reconnect records and data gaps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System operation</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OTA identity and startup checks</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Integrated sensing and recovery trials</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bl>
          </a:graphicData>
        </a:graphic>
      </p:graphicFrame>
      <p:sp>
        <p:nvSpPr>
          <p:cNvPr id="5" name="">
            <a:extLst xmlns:a="http://schemas.openxmlformats.org/drawingml/2006/main">
              <a:ext uri="{FF2B5EF4-FFF2-40B4-BE49-F238E27FC236}">
                <a16:creationId xmlns:a16="http://schemas.microsoft.com/office/drawing/2014/main" id="{3D9DF833-D6DA-4535-9C9D-FA0672654707}"/>
              </a:ext>
            </a:extLst>
          </p:cNvPr>
          <p:cNvSpPr>
            <a:spLocks xmlns:a="http://schemas.openxmlformats.org/drawingml/2006/main" noGrp="1"/>
          </p:cNvSpPr>
          <p:nvPr/>
        </p:nvSpPr>
        <p:spPr>
          <a:xfrm xmlns:a="http://schemas.openxmlformats.org/drawingml/2006/main">
            <a:off x="62865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Agree the test protocol and acceptance thresholds before claiming near real-time performance.</a:t>
            </a:r>
          </a:p>
        </p:txBody>
      </p:sp>
    </p:spTree>
    <p:extLst>
      <p:ext uri="{BB962C8B-B14F-4D97-AF65-F5344CB8AC3E}">
        <p14:creationId xmlns:p14="http://schemas.microsoft.com/office/powerpoint/2010/main" val="577834138"/>
      </p:ext>
    </p:extLst>
  </p:cSld>
</p:sld>
</file>

<file path=ppt/slides/slide8.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F35CBC5-1EB9-4F68-901A-468F571E3D71}"/>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OTA and CI/CD as supporting work</a:t>
            </a:r>
          </a:p>
        </p:txBody>
      </p:sp>
      <p:sp>
        <p:nvSpPr>
          <p:cNvPr id="2" name="">
            <a:extLst xmlns:a="http://schemas.openxmlformats.org/drawingml/2006/main">
              <a:ext uri="{FF2B5EF4-FFF2-40B4-BE49-F238E27FC236}">
                <a16:creationId xmlns:a16="http://schemas.microsoft.com/office/drawing/2014/main" id="{1750F894-2C49-4FF9-9DC4-246A0A4F829B}"/>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Firmware delivery supports repeatable prototype deployment across the Study 3 devices.</a:t>
            </a:r>
          </a:p>
        </p:txBody>
      </p:sp>
      <p:sp>
        <p:nvSpPr>
          <p:cNvPr id="3" name="">
            <a:extLst xmlns:a="http://schemas.openxmlformats.org/drawingml/2006/main">
              <a:ext uri="{FF2B5EF4-FFF2-40B4-BE49-F238E27FC236}">
                <a16:creationId xmlns:a16="http://schemas.microsoft.com/office/drawing/2014/main" id="{7691E503-4224-40C8-8DE0-3637004AF83B}"/>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2892DE9B-20D1-49BD-BE81-68AC527F323B}"/>
              </a:ext>
            </a:extLst>
          </p:cNvPr>
          <p:cNvSpPr>
            <a:spLocks xmlns:a="http://schemas.openxmlformats.org/drawingml/2006/main" noGrp="1"/>
          </p:cNvSpPr>
          <p:nvPr/>
        </p:nvSpPr>
        <p:spPr>
          <a:xfrm xmlns:a="http://schemas.openxmlformats.org/drawingml/2006/main">
            <a:off x="619125" y="2000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32FF6D7D-D34A-4BBE-A077-BC3B53F07DBB}"/>
              </a:ext>
            </a:extLst>
          </p:cNvPr>
          <p:cNvSpPr>
            <a:spLocks xmlns:a="http://schemas.openxmlformats.org/drawingml/2006/main" noGrp="1"/>
          </p:cNvSpPr>
          <p:nvPr/>
        </p:nvSpPr>
        <p:spPr>
          <a:xfrm xmlns:a="http://schemas.openxmlformats.org/drawingml/2006/main">
            <a:off x="1476375" y="20002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Build and sign role images</a:t>
            </a:r>
          </a:p>
        </p:txBody>
      </p:sp>
      <p:sp>
        <p:nvSpPr>
          <p:cNvPr id="6" name="">
            <a:extLst xmlns:a="http://schemas.openxmlformats.org/drawingml/2006/main">
              <a:ext uri="{FF2B5EF4-FFF2-40B4-BE49-F238E27FC236}">
                <a16:creationId xmlns:a16="http://schemas.microsoft.com/office/drawing/2014/main" id="{C43C7E1F-C2B1-488C-B21B-7799F65E6AF3}"/>
              </a:ext>
            </a:extLst>
          </p:cNvPr>
          <p:cNvSpPr>
            <a:spLocks xmlns:a="http://schemas.openxmlformats.org/drawingml/2006/main" noGrp="1"/>
          </p:cNvSpPr>
          <p:nvPr/>
        </p:nvSpPr>
        <p:spPr>
          <a:xfrm xmlns:a="http://schemas.openxmlformats.org/drawingml/2006/main">
            <a:off x="1476375" y="24193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GitHub workflows build inlet, outlet and control from a versioned commit.</a:t>
            </a:r>
          </a:p>
        </p:txBody>
      </p:sp>
      <p:sp>
        <p:nvSpPr>
          <p:cNvPr id="7" name="">
            <a:extLst xmlns:a="http://schemas.openxmlformats.org/drawingml/2006/main">
              <a:ext uri="{FF2B5EF4-FFF2-40B4-BE49-F238E27FC236}">
                <a16:creationId xmlns:a16="http://schemas.microsoft.com/office/drawing/2014/main" id="{C5D15577-E753-477D-AE23-F27ED6BD2F81}"/>
              </a:ext>
            </a:extLst>
          </p:cNvPr>
          <p:cNvSpPr>
            <a:spLocks xmlns:a="http://schemas.openxmlformats.org/drawingml/2006/main" noGrp="1"/>
          </p:cNvSpPr>
          <p:nvPr/>
        </p:nvSpPr>
        <p:spPr>
          <a:xfrm xmlns:a="http://schemas.openxmlformats.org/drawingml/2006/main">
            <a:off x="619125" y="30289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B9B3DCD5-2D1F-456F-A9DD-A74F8F5BF5AE}"/>
              </a:ext>
            </a:extLst>
          </p:cNvPr>
          <p:cNvSpPr>
            <a:spLocks xmlns:a="http://schemas.openxmlformats.org/drawingml/2006/main" noGrp="1"/>
          </p:cNvSpPr>
          <p:nvPr/>
        </p:nvSpPr>
        <p:spPr>
          <a:xfrm xmlns:a="http://schemas.openxmlformats.org/drawingml/2006/main">
            <a:off x="1476375" y="30289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Publish and register releases</a:t>
            </a:r>
          </a:p>
        </p:txBody>
      </p:sp>
      <p:sp>
        <p:nvSpPr>
          <p:cNvPr id="9" name="">
            <a:extLst xmlns:a="http://schemas.openxmlformats.org/drawingml/2006/main">
              <a:ext uri="{FF2B5EF4-FFF2-40B4-BE49-F238E27FC236}">
                <a16:creationId xmlns:a16="http://schemas.microsoft.com/office/drawing/2014/main" id="{36F6922E-9A44-4B9F-A1CB-6A8A7DF0FF7A}"/>
              </a:ext>
            </a:extLst>
          </p:cNvPr>
          <p:cNvSpPr>
            <a:spLocks xmlns:a="http://schemas.openxmlformats.org/drawingml/2006/main" noGrp="1"/>
          </p:cNvSpPr>
          <p:nvPr/>
        </p:nvSpPr>
        <p:spPr>
          <a:xfrm xmlns:a="http://schemas.openxmlformats.org/drawingml/2006/main">
            <a:off x="1476375" y="34480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The delivery job verifies assets and creates disabled Django release records.</a:t>
            </a:r>
          </a:p>
        </p:txBody>
      </p:sp>
      <p:sp>
        <p:nvSpPr>
          <p:cNvPr id="10" name="">
            <a:extLst xmlns:a="http://schemas.openxmlformats.org/drawingml/2006/main">
              <a:ext uri="{FF2B5EF4-FFF2-40B4-BE49-F238E27FC236}">
                <a16:creationId xmlns:a16="http://schemas.microsoft.com/office/drawing/2014/main" id="{E706CA12-B4E1-46DA-ADF5-506E8AF168FC}"/>
              </a:ext>
            </a:extLst>
          </p:cNvPr>
          <p:cNvSpPr>
            <a:spLocks xmlns:a="http://schemas.openxmlformats.org/drawingml/2006/main" noGrp="1"/>
          </p:cNvSpPr>
          <p:nvPr/>
        </p:nvSpPr>
        <p:spPr>
          <a:xfrm xmlns:a="http://schemas.openxmlformats.org/drawingml/2006/main">
            <a:off x="619125" y="40576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44CA007E-9F09-4B99-8FEB-BB2DCD12E08C}"/>
              </a:ext>
            </a:extLst>
          </p:cNvPr>
          <p:cNvSpPr>
            <a:spLocks xmlns:a="http://schemas.openxmlformats.org/drawingml/2006/main" noGrp="1"/>
          </p:cNvSpPr>
          <p:nvPr/>
        </p:nvSpPr>
        <p:spPr>
          <a:xfrm xmlns:a="http://schemas.openxmlformats.org/drawingml/2006/main">
            <a:off x="1476375" y="40576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Approve individual devices</a:t>
            </a:r>
          </a:p>
        </p:txBody>
      </p:sp>
      <p:sp>
        <p:nvSpPr>
          <p:cNvPr id="12" name="">
            <a:extLst xmlns:a="http://schemas.openxmlformats.org/drawingml/2006/main">
              <a:ext uri="{FF2B5EF4-FFF2-40B4-BE49-F238E27FC236}">
                <a16:creationId xmlns:a16="http://schemas.microsoft.com/office/drawing/2014/main" id="{56477788-F866-48B1-AE50-B809D13CFDA2}"/>
              </a:ext>
            </a:extLst>
          </p:cNvPr>
          <p:cNvSpPr>
            <a:spLocks xmlns:a="http://schemas.openxmlformats.org/drawingml/2006/main" noGrp="1"/>
          </p:cNvSpPr>
          <p:nvPr/>
        </p:nvSpPr>
        <p:spPr>
          <a:xfrm xmlns:a="http://schemas.openxmlformats.org/drawingml/2006/main">
            <a:off x="1476375" y="44767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Staff selects a matching release. Each board retains its own identity and token.</a:t>
            </a:r>
          </a:p>
        </p:txBody>
      </p:sp>
      <p:sp>
        <p:nvSpPr>
          <p:cNvPr id="13" name="">
            <a:extLst xmlns:a="http://schemas.openxmlformats.org/drawingml/2006/main">
              <a:ext uri="{FF2B5EF4-FFF2-40B4-BE49-F238E27FC236}">
                <a16:creationId xmlns:a16="http://schemas.microsoft.com/office/drawing/2014/main" id="{88B06B95-08E8-4FA5-BA2F-304CC689B097}"/>
              </a:ext>
            </a:extLst>
          </p:cNvPr>
          <p:cNvSpPr>
            <a:spLocks xmlns:a="http://schemas.openxmlformats.org/drawingml/2006/main" noGrp="1"/>
          </p:cNvSpPr>
          <p:nvPr/>
        </p:nvSpPr>
        <p:spPr>
          <a:xfrm xmlns:a="http://schemas.openxmlformats.org/drawingml/2006/main">
            <a:off x="619125" y="50863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F76"/>
                </a:solidFill>
                <a:latin typeface="Helvetica Neue"/>
                <a:ea typeface="Helvetica Neue"/>
                <a:cs typeface="Helvetica Neue"/>
              </a:defRPr>
            </a:defPPr>
          </a:lstStyle>
          <a:p xmlns:a="http://schemas.openxmlformats.org/drawingml/2006/main">
            <a:pPr>
              <a:defRPr sz="2550" b="1">
                <a:solidFill>
                  <a:srgbClr val="007F76"/>
                </a:solidFill>
                <a:latin typeface="Helvetica Neue"/>
                <a:ea typeface="Helvetica Neue"/>
                <a:cs typeface="Helvetica Neue"/>
              </a:defRPr>
            </a:pPr>
            <a:r>
              <a:rPr sz="2550" b="1">
                <a:solidFill>
                  <a:srgbClr val="007F76"/>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54FFE8A1-0BB2-48CA-AA4F-96165276CABC}"/>
              </a:ext>
            </a:extLst>
          </p:cNvPr>
          <p:cNvSpPr>
            <a:spLocks xmlns:a="http://schemas.openxmlformats.org/drawingml/2006/main" noGrp="1"/>
          </p:cNvSpPr>
          <p:nvPr/>
        </p:nvSpPr>
        <p:spPr>
          <a:xfrm xmlns:a="http://schemas.openxmlformats.org/drawingml/2006/main">
            <a:off x="1476375" y="5086350"/>
            <a:ext cx="962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02A35"/>
                </a:solidFill>
                <a:latin typeface="Helvetica Neue"/>
                <a:ea typeface="Helvetica Neue"/>
                <a:cs typeface="Helvetica Neue"/>
              </a:defRPr>
            </a:defPPr>
          </a:lstStyle>
          <a:p xmlns:a="http://schemas.openxmlformats.org/drawingml/2006/main">
            <a:pPr>
              <a:defRPr sz="2100" b="1">
                <a:solidFill>
                  <a:srgbClr val="102A35"/>
                </a:solidFill>
                <a:latin typeface="Helvetica Neue"/>
                <a:ea typeface="Helvetica Neue"/>
                <a:cs typeface="Helvetica Neue"/>
              </a:defRPr>
            </a:pPr>
            <a:r>
              <a:rPr sz="2100" b="1">
                <a:solidFill>
                  <a:srgbClr val="102A35"/>
                </a:solidFill>
                <a:latin typeface="Helvetica Neue"/>
                <a:ea typeface="Helvetica Neue"/>
                <a:cs typeface="Helvetica Neue"/>
              </a:rPr>
              <a:t>Verify installation and recovery</a:t>
            </a:r>
          </a:p>
        </p:txBody>
      </p:sp>
      <p:sp>
        <p:nvSpPr>
          <p:cNvPr id="15" name="">
            <a:extLst xmlns:a="http://schemas.openxmlformats.org/drawingml/2006/main">
              <a:ext uri="{FF2B5EF4-FFF2-40B4-BE49-F238E27FC236}">
                <a16:creationId xmlns:a16="http://schemas.microsoft.com/office/drawing/2014/main" id="{098E0DD4-FA74-4F41-92A7-71C173FF9FAD}"/>
              </a:ext>
            </a:extLst>
          </p:cNvPr>
          <p:cNvSpPr>
            <a:spLocks xmlns:a="http://schemas.openxmlformats.org/drawingml/2006/main" noGrp="1"/>
          </p:cNvSpPr>
          <p:nvPr/>
        </p:nvSpPr>
        <p:spPr>
          <a:xfrm xmlns:a="http://schemas.openxmlformats.org/drawingml/2006/main">
            <a:off x="1476375" y="55054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Physical update, interrupted-transfer and rollback acceptance remain pending.</a:t>
            </a:r>
          </a:p>
        </p:txBody>
      </p:sp>
    </p:spTree>
    <p:extLst>
      <p:ext uri="{BB962C8B-B14F-4D97-AF65-F5344CB8AC3E}">
        <p14:creationId xmlns:p14="http://schemas.microsoft.com/office/powerpoint/2010/main" val="928234939"/>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8F95F2F-C526-43F6-B82F-4F17EF456C2D}"/>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Software checks supporting Study 3</a:t>
            </a:r>
          </a:p>
        </p:txBody>
      </p:sp>
      <p:sp>
        <p:nvSpPr>
          <p:cNvPr id="2" name="">
            <a:extLst xmlns:a="http://schemas.openxmlformats.org/drawingml/2006/main">
              <a:ext uri="{FF2B5EF4-FFF2-40B4-BE49-F238E27FC236}">
                <a16:creationId xmlns:a16="http://schemas.microsoft.com/office/drawing/2014/main" id="{D25076DF-DD36-4670-A393-D63CE174A26E}"/>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Local verification supports the platform baseline. Physical sensing and calibration remain separate.</a:t>
            </a:r>
          </a:p>
        </p:txBody>
      </p:sp>
      <p:sp>
        <p:nvSpPr>
          <p:cNvPr id="3" name="">
            <a:extLst xmlns:a="http://schemas.openxmlformats.org/drawingml/2006/main">
              <a:ext uri="{FF2B5EF4-FFF2-40B4-BE49-F238E27FC236}">
                <a16:creationId xmlns:a16="http://schemas.microsoft.com/office/drawing/2014/main" id="{89CA86BB-22C9-4CCA-AC63-6F9EF0A33347}"/>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43E20B31-A4A7-4662-9E76-4E7353AB18A0}"/>
              </a:ext>
            </a:extLst>
          </p:cNvPr>
          <p:cNvSpPr>
            <a:spLocks xmlns:a="http://schemas.openxmlformats.org/drawingml/2006/main" noGrp="1"/>
          </p:cNvSpPr>
          <p:nvPr/>
        </p:nvSpPr>
        <p:spPr>
          <a:xfrm xmlns:a="http://schemas.openxmlformats.org/drawingml/2006/main">
            <a:off x="6191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2B7BFCB8-59A2-4736-87C6-0030266C6AF8}"/>
              </a:ext>
            </a:extLst>
          </p:cNvPr>
          <p:cNvSpPr>
            <a:spLocks xmlns:a="http://schemas.openxmlformats.org/drawingml/2006/main" noGrp="1"/>
          </p:cNvSpPr>
          <p:nvPr/>
        </p:nvSpPr>
        <p:spPr>
          <a:xfrm xmlns:a="http://schemas.openxmlformats.org/drawingml/2006/main">
            <a:off x="6191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Backend tests</a:t>
            </a:r>
          </a:p>
        </p:txBody>
      </p:sp>
      <p:sp>
        <p:nvSpPr>
          <p:cNvPr id="6" name="">
            <a:extLst xmlns:a="http://schemas.openxmlformats.org/drawingml/2006/main">
              <a:ext uri="{FF2B5EF4-FFF2-40B4-BE49-F238E27FC236}">
                <a16:creationId xmlns:a16="http://schemas.microsoft.com/office/drawing/2014/main" id="{330E9A4F-FF73-4CC9-BC7C-029D84075F11}"/>
              </a:ext>
            </a:extLst>
          </p:cNvPr>
          <p:cNvSpPr>
            <a:spLocks xmlns:a="http://schemas.openxmlformats.org/drawingml/2006/main" noGrp="1"/>
          </p:cNvSpPr>
          <p:nvPr/>
        </p:nvSpPr>
        <p:spPr>
          <a:xfrm xmlns:a="http://schemas.openxmlformats.org/drawingml/2006/main">
            <a:off x="6191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Validation, APIs and OTA registration</a:t>
            </a:r>
          </a:p>
        </p:txBody>
      </p:sp>
      <p:sp>
        <p:nvSpPr>
          <p:cNvPr id="7" name="">
            <a:extLst xmlns:a="http://schemas.openxmlformats.org/drawingml/2006/main">
              <a:ext uri="{FF2B5EF4-FFF2-40B4-BE49-F238E27FC236}">
                <a16:creationId xmlns:a16="http://schemas.microsoft.com/office/drawing/2014/main" id="{749BAAFD-0AB5-4872-9CF5-F403B4A04DB9}"/>
              </a:ext>
            </a:extLst>
          </p:cNvPr>
          <p:cNvSpPr>
            <a:spLocks xmlns:a="http://schemas.openxmlformats.org/drawingml/2006/main" noGrp="1"/>
          </p:cNvSpPr>
          <p:nvPr/>
        </p:nvSpPr>
        <p:spPr>
          <a:xfrm xmlns:a="http://schemas.openxmlformats.org/drawingml/2006/main">
            <a:off x="34004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10</a:t>
            </a:r>
          </a:p>
        </p:txBody>
      </p:sp>
      <p:sp>
        <p:nvSpPr>
          <p:cNvPr id="8" name="">
            <a:extLst xmlns:a="http://schemas.openxmlformats.org/drawingml/2006/main">
              <a:ext uri="{FF2B5EF4-FFF2-40B4-BE49-F238E27FC236}">
                <a16:creationId xmlns:a16="http://schemas.microsoft.com/office/drawing/2014/main" id="{ACF4B7F2-A000-4B13-9C92-02764B31E404}"/>
              </a:ext>
            </a:extLst>
          </p:cNvPr>
          <p:cNvSpPr>
            <a:spLocks xmlns:a="http://schemas.openxmlformats.org/drawingml/2006/main" noGrp="1"/>
          </p:cNvSpPr>
          <p:nvPr/>
        </p:nvSpPr>
        <p:spPr>
          <a:xfrm xmlns:a="http://schemas.openxmlformats.org/drawingml/2006/main">
            <a:off x="34004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Firmware host tests</a:t>
            </a:r>
          </a:p>
        </p:txBody>
      </p:sp>
      <p:sp>
        <p:nvSpPr>
          <p:cNvPr id="9" name="">
            <a:extLst xmlns:a="http://schemas.openxmlformats.org/drawingml/2006/main">
              <a:ext uri="{FF2B5EF4-FFF2-40B4-BE49-F238E27FC236}">
                <a16:creationId xmlns:a16="http://schemas.microsoft.com/office/drawing/2014/main" id="{653F0370-039B-45B9-88FB-8D30F8B640F8}"/>
              </a:ext>
            </a:extLst>
          </p:cNvPr>
          <p:cNvSpPr>
            <a:spLocks xmlns:a="http://schemas.openxmlformats.org/drawingml/2006/main" noGrp="1"/>
          </p:cNvSpPr>
          <p:nvPr/>
        </p:nvSpPr>
        <p:spPr>
          <a:xfrm xmlns:a="http://schemas.openxmlformats.org/drawingml/2006/main">
            <a:off x="34004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Signed packages and delivery client</a:t>
            </a:r>
          </a:p>
        </p:txBody>
      </p:sp>
      <p:sp>
        <p:nvSpPr>
          <p:cNvPr id="10" name="">
            <a:extLst xmlns:a="http://schemas.openxmlformats.org/drawingml/2006/main">
              <a:ext uri="{FF2B5EF4-FFF2-40B4-BE49-F238E27FC236}">
                <a16:creationId xmlns:a16="http://schemas.microsoft.com/office/drawing/2014/main" id="{73A67E79-20EC-46AE-837A-DD11926955B3}"/>
              </a:ext>
            </a:extLst>
          </p:cNvPr>
          <p:cNvSpPr>
            <a:spLocks xmlns:a="http://schemas.openxmlformats.org/drawingml/2006/main" noGrp="1"/>
          </p:cNvSpPr>
          <p:nvPr/>
        </p:nvSpPr>
        <p:spPr>
          <a:xfrm xmlns:a="http://schemas.openxmlformats.org/drawingml/2006/main">
            <a:off x="61817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10</a:t>
            </a:r>
          </a:p>
        </p:txBody>
      </p:sp>
      <p:sp>
        <p:nvSpPr>
          <p:cNvPr id="11" name="">
            <a:extLst xmlns:a="http://schemas.openxmlformats.org/drawingml/2006/main">
              <a:ext uri="{FF2B5EF4-FFF2-40B4-BE49-F238E27FC236}">
                <a16:creationId xmlns:a16="http://schemas.microsoft.com/office/drawing/2014/main" id="{AF134319-19FD-44EE-93E6-76CB067A33DA}"/>
              </a:ext>
            </a:extLst>
          </p:cNvPr>
          <p:cNvSpPr>
            <a:spLocks xmlns:a="http://schemas.openxmlformats.org/drawingml/2006/main" noGrp="1"/>
          </p:cNvSpPr>
          <p:nvPr/>
        </p:nvSpPr>
        <p:spPr>
          <a:xfrm xmlns:a="http://schemas.openxmlformats.org/drawingml/2006/main">
            <a:off x="61817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Frontend tests</a:t>
            </a:r>
          </a:p>
        </p:txBody>
      </p:sp>
      <p:sp>
        <p:nvSpPr>
          <p:cNvPr id="12" name="">
            <a:extLst xmlns:a="http://schemas.openxmlformats.org/drawingml/2006/main">
              <a:ext uri="{FF2B5EF4-FFF2-40B4-BE49-F238E27FC236}">
                <a16:creationId xmlns:a16="http://schemas.microsoft.com/office/drawing/2014/main" id="{33180220-B971-4647-9C54-A550CB47C20B}"/>
              </a:ext>
            </a:extLst>
          </p:cNvPr>
          <p:cNvSpPr>
            <a:spLocks xmlns:a="http://schemas.openxmlformats.org/drawingml/2006/main" noGrp="1"/>
          </p:cNvSpPr>
          <p:nvPr/>
        </p:nvSpPr>
        <p:spPr>
          <a:xfrm xmlns:a="http://schemas.openxmlformats.org/drawingml/2006/main">
            <a:off x="61817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Readings and alert behavior</a:t>
            </a:r>
          </a:p>
        </p:txBody>
      </p:sp>
      <p:sp>
        <p:nvSpPr>
          <p:cNvPr id="13" name="">
            <a:extLst xmlns:a="http://schemas.openxmlformats.org/drawingml/2006/main">
              <a:ext uri="{FF2B5EF4-FFF2-40B4-BE49-F238E27FC236}">
                <a16:creationId xmlns:a16="http://schemas.microsoft.com/office/drawing/2014/main" id="{7B5594BB-9AFE-4B55-862F-C09A3FDE9945}"/>
              </a:ext>
            </a:extLst>
          </p:cNvPr>
          <p:cNvSpPr>
            <a:spLocks xmlns:a="http://schemas.openxmlformats.org/drawingml/2006/main" noGrp="1"/>
          </p:cNvSpPr>
          <p:nvPr/>
        </p:nvSpPr>
        <p:spPr>
          <a:xfrm xmlns:a="http://schemas.openxmlformats.org/drawingml/2006/main">
            <a:off x="8963025" y="2295525"/>
            <a:ext cx="2495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150" b="1">
                <a:solidFill>
                  <a:srgbClr val="007F76"/>
                </a:solidFill>
                <a:latin typeface="Helvetica Neue"/>
                <a:ea typeface="Helvetica Neue"/>
                <a:cs typeface="Helvetica Neue"/>
              </a:defRPr>
            </a:defPPr>
          </a:lstStyle>
          <a:p xmlns:a="http://schemas.openxmlformats.org/drawingml/2006/main">
            <a:pPr>
              <a:defRPr sz="6150" b="1">
                <a:solidFill>
                  <a:srgbClr val="007F76"/>
                </a:solidFill>
                <a:latin typeface="Helvetica Neue"/>
                <a:ea typeface="Helvetica Neue"/>
                <a:cs typeface="Helvetica Neue"/>
              </a:defRPr>
            </a:pPr>
            <a:r>
              <a:rPr sz="6150" b="1">
                <a:solidFill>
                  <a:srgbClr val="007F76"/>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5ADDB3FF-42B3-4349-B2F4-749F88DB4076}"/>
              </a:ext>
            </a:extLst>
          </p:cNvPr>
          <p:cNvSpPr>
            <a:spLocks xmlns:a="http://schemas.openxmlformats.org/drawingml/2006/main" noGrp="1"/>
          </p:cNvSpPr>
          <p:nvPr/>
        </p:nvSpPr>
        <p:spPr>
          <a:xfrm xmlns:a="http://schemas.openxmlformats.org/drawingml/2006/main">
            <a:off x="8963025" y="3476625"/>
            <a:ext cx="2524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02A35"/>
                </a:solidFill>
                <a:latin typeface="Helvetica Neue"/>
                <a:ea typeface="Helvetica Neue"/>
                <a:cs typeface="Helvetica Neue"/>
              </a:defRPr>
            </a:defPPr>
          </a:lstStyle>
          <a:p xmlns:a="http://schemas.openxmlformats.org/drawingml/2006/main">
            <a:pPr>
              <a:defRPr sz="2025" b="1">
                <a:solidFill>
                  <a:srgbClr val="102A35"/>
                </a:solidFill>
                <a:latin typeface="Helvetica Neue"/>
                <a:ea typeface="Helvetica Neue"/>
                <a:cs typeface="Helvetica Neue"/>
              </a:defRPr>
            </a:pPr>
            <a:r>
              <a:rPr sz="2025" b="1">
                <a:solidFill>
                  <a:srgbClr val="102A35"/>
                </a:solidFill>
                <a:latin typeface="Helvetica Neue"/>
                <a:ea typeface="Helvetica Neue"/>
                <a:cs typeface="Helvetica Neue"/>
              </a:rPr>
              <a:t>Native builds</a:t>
            </a:r>
          </a:p>
        </p:txBody>
      </p:sp>
      <p:sp>
        <p:nvSpPr>
          <p:cNvPr id="15" name="">
            <a:extLst xmlns:a="http://schemas.openxmlformats.org/drawingml/2006/main">
              <a:ext uri="{FF2B5EF4-FFF2-40B4-BE49-F238E27FC236}">
                <a16:creationId xmlns:a16="http://schemas.microsoft.com/office/drawing/2014/main" id="{E8A2CE34-2A43-405C-97F2-9AB2D141A176}"/>
              </a:ext>
            </a:extLst>
          </p:cNvPr>
          <p:cNvSpPr>
            <a:spLocks xmlns:a="http://schemas.openxmlformats.org/drawingml/2006/main" noGrp="1"/>
          </p:cNvSpPr>
          <p:nvPr/>
        </p:nvSpPr>
        <p:spPr>
          <a:xfrm xmlns:a="http://schemas.openxmlformats.org/drawingml/2006/main">
            <a:off x="8963025" y="4143375"/>
            <a:ext cx="238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Inlet, outlet and control</a:t>
            </a:r>
          </a:p>
        </p:txBody>
      </p:sp>
      <p:sp>
        <p:nvSpPr>
          <p:cNvPr id="16" name="">
            <a:extLst xmlns:a="http://schemas.openxmlformats.org/drawingml/2006/main">
              <a:ext uri="{FF2B5EF4-FFF2-40B4-BE49-F238E27FC236}">
                <a16:creationId xmlns:a16="http://schemas.microsoft.com/office/drawing/2014/main" id="{165F35B8-F0FD-45F7-9C92-24DB167AB022}"/>
              </a:ext>
            </a:extLst>
          </p:cNvPr>
          <p:cNvSpPr>
            <a:spLocks xmlns:a="http://schemas.openxmlformats.org/drawingml/2006/main" noGrp="1"/>
          </p:cNvSpPr>
          <p:nvPr/>
        </p:nvSpPr>
        <p:spPr>
          <a:xfrm xmlns:a="http://schemas.openxmlformats.org/drawingml/2006/main">
            <a:off x="638175" y="54102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02A35"/>
                </a:solidFill>
                <a:latin typeface="Helvetica Neue"/>
                <a:ea typeface="Helvetica Neue"/>
                <a:cs typeface="Helvetica Neue"/>
              </a:defRPr>
            </a:defPPr>
          </a:lstStyle>
          <a:p xmlns:a="http://schemas.openxmlformats.org/drawingml/2006/main">
            <a:pPr>
              <a:defRPr sz="1800" b="1">
                <a:solidFill>
                  <a:srgbClr val="102A35"/>
                </a:solidFill>
                <a:latin typeface="Helvetica Neue"/>
                <a:ea typeface="Helvetica Neue"/>
                <a:cs typeface="Helvetica Neue"/>
              </a:defRPr>
            </a:pPr>
            <a:r>
              <a:rPr sz="1800" b="1">
                <a:solidFill>
                  <a:srgbClr val="102A35"/>
                </a:solidFill>
                <a:latin typeface="Helvetica Neue"/>
                <a:ea typeface="Helvetica Neue"/>
                <a:cs typeface="Helvetica Neue"/>
              </a:rPr>
              <a:t>Scope of evidence</a:t>
            </a:r>
          </a:p>
        </p:txBody>
      </p:sp>
      <p:sp>
        <p:nvSpPr>
          <p:cNvPr id="17" name="">
            <a:extLst xmlns:a="http://schemas.openxmlformats.org/drawingml/2006/main">
              <a:ext uri="{FF2B5EF4-FFF2-40B4-BE49-F238E27FC236}">
                <a16:creationId xmlns:a16="http://schemas.microsoft.com/office/drawing/2014/main" id="{AEB402D0-A0C5-4633-A369-23B92E24C0A6}"/>
              </a:ext>
            </a:extLst>
          </p:cNvPr>
          <p:cNvSpPr>
            <a:spLocks xmlns:a="http://schemas.openxmlformats.org/drawingml/2006/main" noGrp="1"/>
          </p:cNvSpPr>
          <p:nvPr/>
        </p:nvSpPr>
        <p:spPr>
          <a:xfrm xmlns:a="http://schemas.openxmlformats.org/drawingml/2006/main">
            <a:off x="3286125" y="5410200"/>
            <a:ext cx="809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B707A"/>
                </a:solidFill>
                <a:latin typeface="Helvetica Neue"/>
                <a:ea typeface="Helvetica Neue"/>
                <a:cs typeface="Helvetica Neue"/>
              </a:defRPr>
            </a:defPPr>
          </a:lstStyle>
          <a:p xmlns:a="http://schemas.openxmlformats.org/drawingml/2006/main">
            <a:pPr>
              <a:defRPr sz="1875" b="0">
                <a:solidFill>
                  <a:srgbClr val="5B707A"/>
                </a:solidFill>
                <a:latin typeface="Helvetica Neue"/>
                <a:ea typeface="Helvetica Neue"/>
                <a:cs typeface="Helvetica Neue"/>
              </a:defRPr>
            </a:pPr>
            <a:r>
              <a:rPr sz="1875" b="0">
                <a:solidFill>
                  <a:srgbClr val="5B707A"/>
                </a:solidFill>
                <a:latin typeface="Helvetica Neue"/>
                <a:ea typeface="Helvetica Neue"/>
                <a:cs typeface="Helvetica Neue"/>
              </a:rPr>
              <a:t>Software regression and build results, not CO₂/pH calibration or physical latency results.</a:t>
            </a:r>
          </a:p>
        </p:txBody>
      </p:sp>
    </p:spTree>
    <p:extLst>
      <p:ext uri="{BB962C8B-B14F-4D97-AF65-F5344CB8AC3E}">
        <p14:creationId xmlns:p14="http://schemas.microsoft.com/office/powerpoint/2010/main" val="1179124902"/>
      </p:ext>
    </p:extLst>
  </p:cSld>
</p:sld>
</file>

<file path=ppt/slides/slide10.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7BB63B-19F1-4E72-B74F-F763CFE89117}"/>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Evidence still needed for the planned outputs</a:t>
            </a:r>
          </a:p>
        </p:txBody>
      </p:sp>
      <p:sp>
        <p:nvSpPr>
          <p:cNvPr id="2" name="">
            <a:extLst xmlns:a="http://schemas.openxmlformats.org/drawingml/2006/main">
              <a:ext uri="{FF2B5EF4-FFF2-40B4-BE49-F238E27FC236}">
                <a16:creationId xmlns:a16="http://schemas.microsoft.com/office/drawing/2014/main" id="{72280EE3-E46D-43E7-B4D4-D088A0B638B1}"/>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Items below are unverified in the supplied repository evidence, not assumed completed activities.</a:t>
            </a:r>
          </a:p>
        </p:txBody>
      </p:sp>
      <p:sp>
        <p:nvSpPr>
          <p:cNvPr id="3" name="">
            <a:extLst xmlns:a="http://schemas.openxmlformats.org/drawingml/2006/main">
              <a:ext uri="{FF2B5EF4-FFF2-40B4-BE49-F238E27FC236}">
                <a16:creationId xmlns:a16="http://schemas.microsoft.com/office/drawing/2014/main" id="{87659297-5885-456A-9067-40DD646A82F1}"/>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10</a:t>
            </a:r>
          </a:p>
        </p:txBody>
      </p:sp>
      <p:graphicFrame>
        <p:nvGraphicFramePr>
          <p:cNvPr id="4" name="">
            <a:extLst xmlns:a="http://schemas.openxmlformats.org/drawingml/2006/main">
              <a:ext uri="{FF2B5EF4-FFF2-40B4-BE49-F238E27FC236}">
                <a16:creationId xmlns:a16="http://schemas.microsoft.com/office/drawing/2014/main" id="{5E2A89A1-DB4E-45AD-AC5A-A4377A40869E}"/>
              </a:ext>
            </a:extLst>
          </p:cNvPr>
          <p:cNvGraphicFramePr/>
          <p:nvPr/>
        </p:nvGraphicFramePr>
        <p:xfrm>
          <a:off xmlns:a="http://schemas.openxmlformats.org/drawingml/2006/main" x="609600" y="2076450"/>
          <a:ext xmlns:a="http://schemas.openxmlformats.org/drawingml/2006/main" cx="10972800" cy="3476625"/>
        </p:xfrm>
        <a:graphic xmlns:a="http://schemas.openxmlformats.org/drawingml/2006/main">
          <a:graphicData uri="http://schemas.openxmlformats.org/drawingml/2006/table">
            <a:tbl>
              <a:tblPr/>
              <a:tblGrid>
                <a:gridCol w="2381250"/>
                <a:gridCol w="4000500"/>
                <a:gridCol w="4591050"/>
              </a:tblGrid>
              <a:tr h="552450">
                <a:tc>
                  <a:txBody>
                    <a:bodyPr/>
                    <a:lstStyle/>
                    <a:p>
                      <a:r>
                        <a:rPr sz="1500" b="1">
                          <a:solidFill>
                            <a:srgbClr val="FFFFFF"/>
                          </a:solidFill>
                          <a:latin typeface="Helvetica Neue"/>
                          <a:ea typeface="Helvetica Neue"/>
                          <a:cs typeface="Helvetica Neue"/>
                        </a:rPr>
                        <a:t>Work-plan linkage</a:t>
                      </a:r>
                    </a:p>
                  </a:txBody>
                  <a:tcPr marL="152400" marR="152400" marT="76200" marB="762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Missing evidence</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Record to prepare</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731044">
                <a:tc>
                  <a:txBody>
                    <a:bodyPr/>
                    <a:lstStyle/>
                    <a:p>
                      <a:r>
                        <a:rPr sz="1650" b="0">
                          <a:solidFill>
                            <a:srgbClr val="102A35"/>
                          </a:solidFill>
                          <a:latin typeface="Helvetica Neue"/>
                          <a:ea typeface="Helvetica Neue"/>
                          <a:cs typeface="Helvetica Neue"/>
                        </a:rPr>
                        <a:t>Objective 1</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Sensor hardware and calibration</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Board/wiring record, reference data</a:t>
                      </a:r>
                    </a:p>
                    <a:p>
                      <a:r>
                        <a:rPr sz="1650" b="0">
                          <a:solidFill>
                            <a:srgbClr val="102A35"/>
                          </a:solidFill>
                          <a:latin typeface="Helvetica Neue"/>
                          <a:ea typeface="Helvetica Neue"/>
                          <a:cs typeface="Helvetica Neue"/>
                        </a:rPr>
                        <a:t>and calibration results</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Objective 2</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Implemented physical sensing path</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Native sampling, upload and display trace</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731044">
                <a:tc>
                  <a:txBody>
                    <a:bodyPr/>
                    <a:lstStyle/>
                    <a:p>
                      <a:r>
                        <a:rPr sz="1650" b="0">
                          <a:solidFill>
                            <a:srgbClr val="102A35"/>
                          </a:solidFill>
                          <a:latin typeface="Helvetica Neue"/>
                          <a:ea typeface="Helvetica Neue"/>
                          <a:cs typeface="Helvetica Neue"/>
                        </a:rPr>
                        <a:t>Objective 2 activity</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Benchmarking / sample testing in Taiwan</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Protocol, participation and results</a:t>
                      </a:r>
                    </a:p>
                    <a:p>
                      <a:r>
                        <a:rPr sz="1650" b="0">
                          <a:solidFill>
                            <a:srgbClr val="102A35"/>
                          </a:solidFill>
                          <a:latin typeface="Helvetica Neue"/>
                          <a:ea typeface="Helvetica Neue"/>
                          <a:cs typeface="Helvetica Neue"/>
                        </a:rPr>
                        <a:t>if the activity has occurred</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731044">
                <a:tc>
                  <a:txBody>
                    <a:bodyPr/>
                    <a:lstStyle/>
                    <a:p>
                      <a:r>
                        <a:rPr sz="1650" b="0">
                          <a:solidFill>
                            <a:srgbClr val="102A35"/>
                          </a:solidFill>
                          <a:latin typeface="Helvetica Neue"/>
                          <a:ea typeface="Helvetica Neue"/>
                          <a:cs typeface="Helvetica Neue"/>
                        </a:rPr>
                        <a:t>Objective 3</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Integrated performance evaluation</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Latency, sensing accuracy and</a:t>
                      </a:r>
                    </a:p>
                    <a:p>
                      <a:r>
                        <a:rPr sz="1650" b="0">
                          <a:solidFill>
                            <a:srgbClr val="102A35"/>
                          </a:solidFill>
                          <a:latin typeface="Helvetica Neue"/>
                          <a:ea typeface="Helvetica Neue"/>
                          <a:cs typeface="Helvetica Neue"/>
                        </a:rPr>
                        <a:t>reliability test results</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bl>
          </a:graphicData>
        </a:graphic>
      </p:graphicFrame>
      <p:sp>
        <p:nvSpPr>
          <p:cNvPr id="5" name="">
            <a:extLst xmlns:a="http://schemas.openxmlformats.org/drawingml/2006/main">
              <a:ext uri="{FF2B5EF4-FFF2-40B4-BE49-F238E27FC236}">
                <a16:creationId xmlns:a16="http://schemas.microsoft.com/office/drawing/2014/main" id="{DFD58840-7ABA-4193-9FBF-95086CB5DB1B}"/>
              </a:ext>
            </a:extLst>
          </p:cNvPr>
          <p:cNvSpPr>
            <a:spLocks xmlns:a="http://schemas.openxmlformats.org/drawingml/2006/main" noGrp="1"/>
          </p:cNvSpPr>
          <p:nvPr/>
        </p:nvSpPr>
        <p:spPr>
          <a:xfrm xmlns:a="http://schemas.openxmlformats.org/drawingml/2006/main">
            <a:off x="628650" y="58959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B707A"/>
                </a:solidFill>
                <a:latin typeface="Helvetica Neue"/>
                <a:ea typeface="Helvetica Neue"/>
                <a:cs typeface="Helvetica Neue"/>
              </a:defRPr>
            </a:defPPr>
          </a:lstStyle>
          <a:p xmlns:a="http://schemas.openxmlformats.org/drawingml/2006/main">
            <a:pPr>
              <a:defRPr sz="1425" b="0">
                <a:solidFill>
                  <a:srgbClr val="5B707A"/>
                </a:solidFill>
                <a:latin typeface="Helvetica Neue"/>
                <a:ea typeface="Helvetica Neue"/>
                <a:cs typeface="Helvetica Neue"/>
              </a:defRPr>
            </a:pPr>
            <a:r>
              <a:rPr sz="1425" b="0">
                <a:solidFill>
                  <a:srgbClr val="5B707A"/>
                </a:solidFill>
                <a:latin typeface="Helvetica Neue"/>
                <a:ea typeface="Helvetica Neue"/>
                <a:cs typeface="Helvetica Neue"/>
              </a:rPr>
              <a:t>Documentation and an acceptance template are available. Completed test records still require actual observations.</a:t>
            </a:r>
          </a:p>
        </p:txBody>
      </p:sp>
    </p:spTree>
    <p:extLst>
      <p:ext uri="{BB962C8B-B14F-4D97-AF65-F5344CB8AC3E}">
        <p14:creationId xmlns:p14="http://schemas.microsoft.com/office/powerpoint/2010/main" val="331166661"/>
      </p:ext>
    </p:extLst>
  </p:cSld>
</p:sld>
</file>

<file path=ppt/slides/slide1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49E508-C446-440F-BD93-C7683BD736E6}"/>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Next milestones mapped to Study 3</a:t>
            </a:r>
          </a:p>
        </p:txBody>
      </p:sp>
      <p:sp>
        <p:nvSpPr>
          <p:cNvPr id="2" name="">
            <a:extLst xmlns:a="http://schemas.openxmlformats.org/drawingml/2006/main">
              <a:ext uri="{FF2B5EF4-FFF2-40B4-BE49-F238E27FC236}">
                <a16:creationId xmlns:a16="http://schemas.microsoft.com/office/drawing/2014/main" id="{B42ACF14-18CB-40A6-8E11-D55B579CEDBA}"/>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Suggested sequence for producing the remaining evidence. Dates and acceptance limits need agreement.</a:t>
            </a:r>
          </a:p>
        </p:txBody>
      </p:sp>
      <p:sp>
        <p:nvSpPr>
          <p:cNvPr id="3" name="">
            <a:extLst xmlns:a="http://schemas.openxmlformats.org/drawingml/2006/main">
              <a:ext uri="{FF2B5EF4-FFF2-40B4-BE49-F238E27FC236}">
                <a16:creationId xmlns:a16="http://schemas.microsoft.com/office/drawing/2014/main" id="{8EF3CDB3-598D-4D0B-972B-C31A6FC9A409}"/>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11</a:t>
            </a:r>
          </a:p>
        </p:txBody>
      </p:sp>
      <p:graphicFrame>
        <p:nvGraphicFramePr>
          <p:cNvPr id="4" name="">
            <a:extLst xmlns:a="http://schemas.openxmlformats.org/drawingml/2006/main">
              <a:ext uri="{FF2B5EF4-FFF2-40B4-BE49-F238E27FC236}">
                <a16:creationId xmlns:a16="http://schemas.microsoft.com/office/drawing/2014/main" id="{29808C55-C49D-4F9D-9EDD-1EE625706D12}"/>
              </a:ext>
            </a:extLst>
          </p:cNvPr>
          <p:cNvGraphicFramePr/>
          <p:nvPr/>
        </p:nvGraphicFramePr>
        <p:xfrm>
          <a:off xmlns:a="http://schemas.openxmlformats.org/drawingml/2006/main" x="609600" y="2076450"/>
          <a:ext xmlns:a="http://schemas.openxmlformats.org/drawingml/2006/main" cx="10972800" cy="3714750"/>
        </p:xfrm>
        <a:graphic xmlns:a="http://schemas.openxmlformats.org/drawingml/2006/main">
          <a:graphicData uri="http://schemas.openxmlformats.org/drawingml/2006/table">
            <a:tbl>
              <a:tblPr/>
              <a:tblGrid>
                <a:gridCol w="1428750"/>
                <a:gridCol w="7067550"/>
                <a:gridCol w="2476500"/>
              </a:tblGrid>
              <a:tr h="552450">
                <a:tc>
                  <a:txBody>
                    <a:bodyPr/>
                    <a:lstStyle/>
                    <a:p>
                      <a:r>
                        <a:rPr sz="1500" b="1">
                          <a:solidFill>
                            <a:srgbClr val="FFFFFF"/>
                          </a:solidFill>
                          <a:latin typeface="Helvetica Neue"/>
                          <a:ea typeface="Helvetica Neue"/>
                          <a:cs typeface="Helvetica Neue"/>
                        </a:rPr>
                        <a:t>Sequence</a:t>
                      </a:r>
                    </a:p>
                  </a:txBody>
                  <a:tcPr marL="152400" marR="152400" marT="76200" marB="762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Next milestone</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c>
                  <a:txBody>
                    <a:bodyPr/>
                    <a:lstStyle/>
                    <a:p>
                      <a:r>
                        <a:rPr sz="1500" b="1">
                          <a:solidFill>
                            <a:srgbClr val="FFFFFF"/>
                          </a:solidFill>
                          <a:latin typeface="Helvetica Neue"/>
                          <a:ea typeface="Helvetica Neue"/>
                          <a:cs typeface="Helvetica Neue"/>
                        </a:rPr>
                        <a:t>Linked objective</a:t>
                      </a:r>
                    </a:p>
                  </a:txBody>
                  <a:tcPr marL="152400" marR="152400" marT="76200" marB="76200" anchor="ctr">
                    <a:lnR w="9525">
                      <a:solidFill>
                        <a:srgbClr val="D9E3DE"/>
                      </a:solidFill>
                      <a:prstDash val="solid"/>
                    </a:lnR>
                    <a:lnT w="9525">
                      <a:solidFill>
                        <a:srgbClr val="D9E3DE"/>
                      </a:solidFill>
                      <a:prstDash val="solid"/>
                    </a:lnT>
                    <a:lnB w="9525">
                      <a:solidFill>
                        <a:srgbClr val="D9E3DE"/>
                      </a:solidFill>
                      <a:prstDash val="solid"/>
                    </a:lnB>
                    <a:solidFill>
                      <a:srgbClr val="102A35"/>
                    </a:solidFill>
                  </a:tcPr>
                </a:tc>
              </a:tr>
              <a:tr h="632460">
                <a:tc>
                  <a:txBody>
                    <a:bodyPr/>
                    <a:lstStyle/>
                    <a:p>
                      <a:r>
                        <a:rPr sz="1650" b="0">
                          <a:solidFill>
                            <a:srgbClr val="102A35"/>
                          </a:solidFill>
                          <a:latin typeface="Helvetica Neue"/>
                          <a:ea typeface="Helvetica Neue"/>
                          <a:cs typeface="Helvetica Neue"/>
                        </a:rPr>
                        <a:t>1</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Confirm board configuration and recovery behavior</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Objective 1</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2</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Implement native CO₂/pH drivers and calibrate</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Objective 1</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3</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Connect real sensor data to the hosted platform</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Objective 2</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r h="632460">
                <a:tc>
                  <a:txBody>
                    <a:bodyPr/>
                    <a:lstStyle/>
                    <a:p>
                      <a:r>
                        <a:rPr sz="1650" b="0">
                          <a:solidFill>
                            <a:srgbClr val="102A35"/>
                          </a:solidFill>
                          <a:latin typeface="Helvetica Neue"/>
                          <a:ea typeface="Helvetica Neue"/>
                          <a:cs typeface="Helvetica Neue"/>
                        </a:rPr>
                        <a:t>4</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Document benchmarking/sample testing evidence</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c>
                  <a:txBody>
                    <a:bodyPr/>
                    <a:lstStyle/>
                    <a:p>
                      <a:r>
                        <a:rPr sz="1650" b="0">
                          <a:solidFill>
                            <a:srgbClr val="102A35"/>
                          </a:solidFill>
                          <a:latin typeface="Helvetica Neue"/>
                          <a:ea typeface="Helvetica Neue"/>
                          <a:cs typeface="Helvetica Neue"/>
                        </a:rPr>
                        <a:t>Objective 2 activity</a:t>
                      </a:r>
                    </a:p>
                  </a:txBody>
                  <a:tcPr marL="152400" marR="152400" marT="76200" marB="76200" anchor="ctr">
                    <a:lnR w="9525">
                      <a:solidFill>
                        <a:srgbClr val="D9E3DE"/>
                      </a:solidFill>
                      <a:prstDash val="solid"/>
                    </a:lnR>
                    <a:lnB w="9525">
                      <a:solidFill>
                        <a:srgbClr val="D9E3DE"/>
                      </a:solidFill>
                      <a:prstDash val="solid"/>
                    </a:lnB>
                    <a:solidFill>
                      <a:srgbClr val="E9F1EE"/>
                    </a:solidFill>
                  </a:tcPr>
                </a:tc>
              </a:tr>
              <a:tr h="632460">
                <a:tc>
                  <a:txBody>
                    <a:bodyPr/>
                    <a:lstStyle/>
                    <a:p>
                      <a:r>
                        <a:rPr sz="1650" b="0">
                          <a:solidFill>
                            <a:srgbClr val="102A35"/>
                          </a:solidFill>
                          <a:latin typeface="Helvetica Neue"/>
                          <a:ea typeface="Helvetica Neue"/>
                          <a:cs typeface="Helvetica Neue"/>
                        </a:rPr>
                        <a:t>5</a:t>
                      </a:r>
                    </a:p>
                  </a:txBody>
                  <a:tcPr marL="152400" marR="152400" marT="76200" marB="762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Evaluate integrated accuracy, latency and reliability</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c>
                  <a:txBody>
                    <a:bodyPr/>
                    <a:lstStyle/>
                    <a:p>
                      <a:r>
                        <a:rPr sz="1650" b="0">
                          <a:solidFill>
                            <a:srgbClr val="102A35"/>
                          </a:solidFill>
                          <a:latin typeface="Helvetica Neue"/>
                          <a:ea typeface="Helvetica Neue"/>
                          <a:cs typeface="Helvetica Neue"/>
                        </a:rPr>
                        <a:t>Objective 3</a:t>
                      </a:r>
                    </a:p>
                  </a:txBody>
                  <a:tcPr marL="152400" marR="152400" marT="76200" marB="76200" anchor="ctr">
                    <a:lnR w="9525">
                      <a:solidFill>
                        <a:srgbClr val="D9E3DE"/>
                      </a:solidFill>
                      <a:prstDash val="solid"/>
                    </a:lnR>
                    <a:lnB w="9525">
                      <a:solidFill>
                        <a:srgbClr val="D9E3DE"/>
                      </a:solidFill>
                      <a:prstDash val="solid"/>
                    </a:lnB>
                    <a:solidFill>
                      <a:srgbClr val="FFFFFF"/>
                    </a:solidFill>
                  </a:tcPr>
                </a:tc>
              </a:tr>
            </a:tbl>
          </a:graphicData>
        </a:graphic>
      </p:graphicFrame>
    </p:spTree>
    <p:extLst>
      <p:ext uri="{BB962C8B-B14F-4D97-AF65-F5344CB8AC3E}">
        <p14:creationId xmlns:p14="http://schemas.microsoft.com/office/powerpoint/2010/main" val="937996739"/>
      </p:ext>
    </p:extLst>
  </p:cSld>
</p:sld>
</file>

<file path=ppt/slides/slide1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A4AF1D-6BF8-43C8-90E9-02B122D1A30C}"/>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02A35"/>
                </a:solidFill>
                <a:latin typeface="Helvetica Neue"/>
                <a:ea typeface="Helvetica Neue"/>
                <a:cs typeface="Helvetica Neue"/>
              </a:defRPr>
            </a:defPPr>
          </a:lstStyle>
          <a:p xmlns:a="http://schemas.openxmlformats.org/drawingml/2006/main">
            <a:pPr>
              <a:defRPr sz="3300" b="1">
                <a:solidFill>
                  <a:srgbClr val="102A35"/>
                </a:solidFill>
                <a:latin typeface="Helvetica Neue"/>
                <a:ea typeface="Helvetica Neue"/>
                <a:cs typeface="Helvetica Neue"/>
              </a:defRPr>
            </a:pPr>
            <a:r>
              <a:rPr sz="3300" b="1">
                <a:solidFill>
                  <a:srgbClr val="102A35"/>
                </a:solidFill>
                <a:latin typeface="Helvetica Neue"/>
                <a:ea typeface="Helvetica Neue"/>
                <a:cs typeface="Helvetica Neue"/>
              </a:rPr>
              <a:t>Study 3 progress statement</a:t>
            </a:r>
          </a:p>
        </p:txBody>
      </p:sp>
      <p:sp>
        <p:nvSpPr>
          <p:cNvPr id="2" name="">
            <a:extLst xmlns:a="http://schemas.openxmlformats.org/drawingml/2006/main">
              <a:ext uri="{FF2B5EF4-FFF2-40B4-BE49-F238E27FC236}">
                <a16:creationId xmlns:a16="http://schemas.microsoft.com/office/drawing/2014/main" id="{9B978F16-6AE6-4579-9539-DDE125733869}"/>
              </a:ext>
            </a:extLst>
          </p:cNvPr>
          <p:cNvSpPr>
            <a:spLocks xmlns:a="http://schemas.openxmlformats.org/drawingml/2006/main" noGrp="1"/>
          </p:cNvSpPr>
          <p:nvPr/>
        </p:nvSpPr>
        <p:spPr>
          <a:xfrm xmlns:a="http://schemas.openxmlformats.org/drawingml/2006/main">
            <a:off x="628650" y="1209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B707A"/>
                </a:solidFill>
                <a:latin typeface="Helvetica Neue"/>
                <a:ea typeface="Helvetica Neue"/>
                <a:cs typeface="Helvetica Neue"/>
              </a:defRPr>
            </a:defPPr>
          </a:lstStyle>
          <a:p xmlns:a="http://schemas.openxmlformats.org/drawingml/2006/main">
            <a:pPr>
              <a:defRPr sz="1725" b="0">
                <a:solidFill>
                  <a:srgbClr val="5B707A"/>
                </a:solidFill>
                <a:latin typeface="Helvetica Neue"/>
                <a:ea typeface="Helvetica Neue"/>
                <a:cs typeface="Helvetica Neue"/>
              </a:defRPr>
            </a:pPr>
            <a:r>
              <a:rPr sz="1725" b="0">
                <a:solidFill>
                  <a:srgbClr val="5B707A"/>
                </a:solidFill>
                <a:latin typeface="Helvetica Neue"/>
                <a:ea typeface="Helvetica Neue"/>
                <a:cs typeface="Helvetica Neue"/>
              </a:rPr>
              <a:t>A report-ready summary aligned with the supplied objectives and outputs.</a:t>
            </a:r>
          </a:p>
        </p:txBody>
      </p:sp>
      <p:sp>
        <p:nvSpPr>
          <p:cNvPr id="3" name="">
            <a:extLst xmlns:a="http://schemas.openxmlformats.org/drawingml/2006/main">
              <a:ext uri="{FF2B5EF4-FFF2-40B4-BE49-F238E27FC236}">
                <a16:creationId xmlns:a16="http://schemas.microsoft.com/office/drawing/2014/main" id="{22EA1675-0021-419F-ACD9-E2D18816F317}"/>
              </a:ext>
            </a:extLst>
          </p:cNvPr>
          <p:cNvSpPr>
            <a:spLocks xmlns:a="http://schemas.openxmlformats.org/drawingml/2006/main" noGrp="1"/>
          </p:cNvSpPr>
          <p:nvPr/>
        </p:nvSpPr>
        <p:spPr>
          <a:xfrm xmlns:a="http://schemas.openxmlformats.org/drawingml/2006/main">
            <a:off x="11191875"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B707A"/>
                </a:solidFill>
                <a:latin typeface="Helvetica Neue"/>
                <a:ea typeface="Helvetica Neue"/>
                <a:cs typeface="Helvetica Neue"/>
              </a:defRPr>
            </a:defPPr>
          </a:lstStyle>
          <a:p xmlns:a="http://schemas.openxmlformats.org/drawingml/2006/main">
            <a:pPr>
              <a:defRPr sz="1200" b="0">
                <a:solidFill>
                  <a:srgbClr val="5B707A"/>
                </a:solidFill>
                <a:latin typeface="Helvetica Neue"/>
                <a:ea typeface="Helvetica Neue"/>
                <a:cs typeface="Helvetica Neue"/>
              </a:defRPr>
            </a:pPr>
            <a:r>
              <a:rPr sz="1200" b="0">
                <a:solidFill>
                  <a:srgbClr val="5B707A"/>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741BF3BF-81A0-4233-8726-48E77A835A0C}"/>
              </a:ext>
            </a:extLst>
          </p:cNvPr>
          <p:cNvSpPr>
            <a:spLocks xmlns:a="http://schemas.openxmlformats.org/drawingml/2006/main" noGrp="1"/>
          </p:cNvSpPr>
          <p:nvPr/>
        </p:nvSpPr>
        <p:spPr>
          <a:xfrm xmlns:a="http://schemas.openxmlformats.org/drawingml/2006/main">
            <a:off x="638175" y="21145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F76"/>
                </a:solidFill>
                <a:latin typeface="Helvetica Neue"/>
                <a:ea typeface="Helvetica Neue"/>
                <a:cs typeface="Helvetica Neue"/>
              </a:defRPr>
            </a:defPPr>
          </a:lstStyle>
          <a:p xmlns:a="http://schemas.openxmlformats.org/drawingml/2006/main">
            <a:pPr>
              <a:defRPr sz="2250" b="1">
                <a:solidFill>
                  <a:srgbClr val="007F76"/>
                </a:solidFill>
                <a:latin typeface="Helvetica Neue"/>
                <a:ea typeface="Helvetica Neue"/>
                <a:cs typeface="Helvetica Neue"/>
              </a:defRPr>
            </a:pPr>
            <a:r>
              <a:rPr sz="2250" b="1">
                <a:solidFill>
                  <a:srgbClr val="007F76"/>
                </a:solidFill>
                <a:latin typeface="Helvetica Neue"/>
                <a:ea typeface="Helvetica Neue"/>
                <a:cs typeface="Helvetica Neue"/>
              </a:rPr>
              <a:t>Completed software contribution</a:t>
            </a:r>
          </a:p>
        </p:txBody>
      </p:sp>
      <p:sp>
        <p:nvSpPr>
          <p:cNvPr id="5" name="">
            <a:extLst xmlns:a="http://schemas.openxmlformats.org/drawingml/2006/main">
              <a:ext uri="{FF2B5EF4-FFF2-40B4-BE49-F238E27FC236}">
                <a16:creationId xmlns:a16="http://schemas.microsoft.com/office/drawing/2014/main" id="{D996C651-36A3-451E-A76C-B1EFAE8E28D3}"/>
              </a:ext>
            </a:extLst>
          </p:cNvPr>
          <p:cNvSpPr>
            <a:spLocks xmlns:a="http://schemas.openxmlformats.org/drawingml/2006/main" noGrp="1"/>
          </p:cNvSpPr>
          <p:nvPr/>
        </p:nvSpPr>
        <p:spPr>
          <a:xfrm xmlns:a="http://schemas.openxmlformats.org/drawingml/2006/main">
            <a:off x="638175" y="2705100"/>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02A35"/>
                </a:solidFill>
                <a:latin typeface="Helvetica Neue"/>
                <a:ea typeface="Helvetica Neue"/>
                <a:cs typeface="Helvetica Neue"/>
              </a:defRPr>
            </a:defPPr>
          </a:lstStyle>
          <a:p xmlns:a="http://schemas.openxmlformats.org/drawingml/2006/main">
            <a:pPr>
              <a:defRPr sz="2175" b="0">
                <a:solidFill>
                  <a:srgbClr val="102A35"/>
                </a:solidFill>
                <a:latin typeface="Helvetica Neue"/>
                <a:ea typeface="Helvetica Neue"/>
                <a:cs typeface="Helvetica Neue"/>
              </a:defRPr>
            </a:pPr>
            <a:r>
              <a:rPr sz="2175" b="0">
                <a:solidFill>
                  <a:srgbClr val="102A35"/>
                </a:solidFill>
                <a:latin typeface="Helvetica Neue"/>
                <a:ea typeface="Helvetica Neue"/>
                <a:cs typeface="Helvetica Neue"/>
              </a:rPr>
              <a:t>The project has deployed the web monitoring interface on Vercel and the Django backend on Railway. The repository also provides distinct ESP32 firmware builds and a signed OTA delivery implementation.</a:t>
            </a:r>
          </a:p>
        </p:txBody>
      </p:sp>
      <p:sp>
        <p:nvSpPr>
          <p:cNvPr id="6" name="">
            <a:extLst xmlns:a="http://schemas.openxmlformats.org/drawingml/2006/main">
              <a:ext uri="{FF2B5EF4-FFF2-40B4-BE49-F238E27FC236}">
                <a16:creationId xmlns:a16="http://schemas.microsoft.com/office/drawing/2014/main" id="{C147F20F-7272-4F75-96FB-A45D1BCD83A1}"/>
              </a:ext>
            </a:extLst>
          </p:cNvPr>
          <p:cNvSpPr>
            <a:spLocks xmlns:a="http://schemas.openxmlformats.org/drawingml/2006/main" noGrp="1"/>
          </p:cNvSpPr>
          <p:nvPr/>
        </p:nvSpPr>
        <p:spPr>
          <a:xfrm xmlns:a="http://schemas.openxmlformats.org/drawingml/2006/main">
            <a:off x="638175" y="44291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F76"/>
                </a:solidFill>
                <a:latin typeface="Helvetica Neue"/>
                <a:ea typeface="Helvetica Neue"/>
                <a:cs typeface="Helvetica Neue"/>
              </a:defRPr>
            </a:defPPr>
          </a:lstStyle>
          <a:p xmlns:a="http://schemas.openxmlformats.org/drawingml/2006/main">
            <a:pPr>
              <a:defRPr sz="2250" b="1">
                <a:solidFill>
                  <a:srgbClr val="007F76"/>
                </a:solidFill>
                <a:latin typeface="Helvetica Neue"/>
                <a:ea typeface="Helvetica Neue"/>
                <a:cs typeface="Helvetica Neue"/>
              </a:defRPr>
            </a:pPr>
            <a:r>
              <a:rPr sz="2250" b="1">
                <a:solidFill>
                  <a:srgbClr val="007F76"/>
                </a:solidFill>
                <a:latin typeface="Helvetica Neue"/>
                <a:ea typeface="Helvetica Neue"/>
                <a:cs typeface="Helvetica Neue"/>
              </a:rPr>
              <a:t>Remaining study evidence</a:t>
            </a:r>
          </a:p>
        </p:txBody>
      </p:sp>
      <p:sp>
        <p:nvSpPr>
          <p:cNvPr id="7" name="">
            <a:extLst xmlns:a="http://schemas.openxmlformats.org/drawingml/2006/main">
              <a:ext uri="{FF2B5EF4-FFF2-40B4-BE49-F238E27FC236}">
                <a16:creationId xmlns:a16="http://schemas.microsoft.com/office/drawing/2014/main" id="{65B4BD61-3277-4A82-9DCA-7AB243174C3B}"/>
              </a:ext>
            </a:extLst>
          </p:cNvPr>
          <p:cNvSpPr>
            <a:spLocks xmlns:a="http://schemas.openxmlformats.org/drawingml/2006/main" noGrp="1"/>
          </p:cNvSpPr>
          <p:nvPr/>
        </p:nvSpPr>
        <p:spPr>
          <a:xfrm xmlns:a="http://schemas.openxmlformats.org/drawingml/2006/main">
            <a:off x="638175" y="5019675"/>
            <a:ext cx="10763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02A35"/>
                </a:solidFill>
                <a:latin typeface="Helvetica Neue"/>
                <a:ea typeface="Helvetica Neue"/>
                <a:cs typeface="Helvetica Neue"/>
              </a:defRPr>
            </a:defPPr>
          </a:lstStyle>
          <a:p xmlns:a="http://schemas.openxmlformats.org/drawingml/2006/main">
            <a:pPr>
              <a:defRPr sz="2175" b="0">
                <a:solidFill>
                  <a:srgbClr val="102A35"/>
                </a:solidFill>
                <a:latin typeface="Helvetica Neue"/>
                <a:ea typeface="Helvetica Neue"/>
                <a:cs typeface="Helvetica Neue"/>
              </a:defRPr>
            </a:pPr>
            <a:r>
              <a:rPr sz="2175" b="0">
                <a:solidFill>
                  <a:srgbClr val="102A35"/>
                </a:solidFill>
                <a:latin typeface="Helvetica Neue"/>
                <a:ea typeface="Helvetica Neue"/>
                <a:cs typeface="Helvetica Neue"/>
              </a:rPr>
              <a:t>Completion of the planned sensing outputs requires confirmed hardware integration, CO₂ and pH calibration, relevant benchmarking/sample-test records, and evaluation of the integrated near real-time monitoring system.</a:t>
            </a:r>
          </a:p>
        </p:txBody>
      </p:sp>
    </p:spTree>
    <p:extLst>
      <p:ext uri="{BB962C8B-B14F-4D97-AF65-F5344CB8AC3E}">
        <p14:creationId xmlns:p14="http://schemas.microsoft.com/office/powerpoint/2010/main" val="1858048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2026-10-15T04:02:58.0440000Z</dcterms:created>
  <dcterms:modified xsi:type="dcterms:W3CDTF">2026-10-15T04:02:58.0440000Z</dcterms:modified>
</coreProperties>
</file>