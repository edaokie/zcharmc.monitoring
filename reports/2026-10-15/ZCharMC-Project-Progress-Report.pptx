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16c5c766e9401f" /><Relationship Type="http://schemas.openxmlformats.org/officeDocument/2006/relationships/extended-properties" Target="/docProps/app.xml" Id="R87df68a166874c6e" /><Relationship Type="http://schemas.openxmlformats.org/officeDocument/2006/relationships/officeDocument" Target="/ppt/presentation.xml" Id="Rd04c581b6eae4b61" /></Relationships>
</file>

<file path=ppt/presentation.xml><?xml version="1.0" encoding="utf-8"?>
<p:presentation xmlns:p="http://schemas.openxmlformats.org/presentationml/2006/main">
  <p:sldMasterIdLst>
    <p:sldMasterId xmlns:r="http://schemas.openxmlformats.org/officeDocument/2006/relationships" id="2147483648" r:id="R42487b0be94d4bfb"/>
  </p:sldMasterIdLst>
  <p:notesMasterIdLst>
    <p:notesMasterId xmlns:r="http://schemas.openxmlformats.org/officeDocument/2006/relationships" r:id="Rb0055f3b2ae942da"/>
  </p:notesMasterIdLst>
  <p:sldIdLst>
    <p:sldId xmlns:r="http://schemas.openxmlformats.org/officeDocument/2006/relationships" id="256" r:id="Rbb6b71ece83e4d16"/>
    <p:sldId xmlns:r="http://schemas.openxmlformats.org/officeDocument/2006/relationships" id="257" r:id="R654e572b7bb646f5"/>
    <p:sldId xmlns:r="http://schemas.openxmlformats.org/officeDocument/2006/relationships" id="258" r:id="Rad793c2742ad4827"/>
    <p:sldId xmlns:r="http://schemas.openxmlformats.org/officeDocument/2006/relationships" id="259" r:id="R4221d4ac4da847d3"/>
    <p:sldId xmlns:r="http://schemas.openxmlformats.org/officeDocument/2006/relationships" id="260" r:id="R167d4b3c2fad450a"/>
    <p:sldId xmlns:r="http://schemas.openxmlformats.org/officeDocument/2006/relationships" id="261" r:id="R3d591e2ec96849df"/>
    <p:sldId xmlns:r="http://schemas.openxmlformats.org/officeDocument/2006/relationships" id="262" r:id="R1f16255c2b764784"/>
    <p:sldId xmlns:r="http://schemas.openxmlformats.org/officeDocument/2006/relationships" id="263" r:id="R7fd1ce2d6d8c40ee"/>
    <p:sldId xmlns:r="http://schemas.openxmlformats.org/officeDocument/2006/relationships" id="264" r:id="R424db25a2baa4b13"/>
    <p:sldId xmlns:r="http://schemas.openxmlformats.org/officeDocument/2006/relationships" id="265" r:id="R15e79a0166d2440c"/>
    <p:sldId xmlns:r="http://schemas.openxmlformats.org/officeDocument/2006/relationships" id="266" r:id="Rb447574193c84446"/>
    <p:sldId xmlns:r="http://schemas.openxmlformats.org/officeDocument/2006/relationships" id="267" r:id="R4e0ae73c5e9647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82055f6c194210" /><Relationship Type="http://schemas.openxmlformats.org/officeDocument/2006/relationships/slideMaster" Target="/ppt/slideMasters/slideMaster1.xml" Id="R42487b0be94d4bfb" /><Relationship Type="http://schemas.openxmlformats.org/officeDocument/2006/relationships/notesMaster" Target="/ppt/notesMasters/notesMaster1.xml" Id="Rb0055f3b2ae942da" /><Relationship Type="http://schemas.openxmlformats.org/officeDocument/2006/relationships/presProps" Target="/ppt/presProps.xml" Id="Re82f1823e5b34539" /><Relationship Type="http://schemas.openxmlformats.org/officeDocument/2006/relationships/tableStyles" Target="/ppt/tableStyles.xml" Id="R4780509beb004877" /><Relationship Type="http://schemas.openxmlformats.org/officeDocument/2006/relationships/slide" Target="/ppt/slides/slide1.xml" Id="Rbb6b71ece83e4d16" /><Relationship Type="http://schemas.openxmlformats.org/officeDocument/2006/relationships/slide" Target="/ppt/slides/slide2.xml" Id="R654e572b7bb646f5" /><Relationship Type="http://schemas.openxmlformats.org/officeDocument/2006/relationships/slide" Target="/ppt/slides/slide3.xml" Id="Rad793c2742ad4827" /><Relationship Type="http://schemas.openxmlformats.org/officeDocument/2006/relationships/slide" Target="/ppt/slides/slide4.xml" Id="R4221d4ac4da847d3" /><Relationship Type="http://schemas.openxmlformats.org/officeDocument/2006/relationships/slide" Target="/ppt/slides/slide5.xml" Id="R167d4b3c2fad450a" /><Relationship Type="http://schemas.openxmlformats.org/officeDocument/2006/relationships/slide" Target="/ppt/slides/slide6.xml" Id="R3d591e2ec96849df" /><Relationship Type="http://schemas.openxmlformats.org/officeDocument/2006/relationships/slide" Target="/ppt/slides/slide7.xml" Id="R1f16255c2b764784" /><Relationship Type="http://schemas.openxmlformats.org/officeDocument/2006/relationships/slide" Target="/ppt/slides/slide8.xml" Id="R7fd1ce2d6d8c40ee" /><Relationship Type="http://schemas.openxmlformats.org/officeDocument/2006/relationships/slide" Target="/ppt/slides/slide9.xml" Id="R424db25a2baa4b13" /><Relationship Type="http://schemas.openxmlformats.org/officeDocument/2006/relationships/slide" Target="/ppt/slides/slide10.xml" Id="R15e79a0166d2440c" /><Relationship Type="http://schemas.openxmlformats.org/officeDocument/2006/relationships/slide" Target="/ppt/slides/slide11.xml" Id="Rb447574193c84446" /><Relationship Type="http://schemas.openxmlformats.org/officeDocument/2006/relationships/slide" Target="/ppt/slides/slide12.xml" Id="R4e0ae73c5e9647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e2e459a55a40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66d5fb67754b91" /><Relationship Type="http://schemas.openxmlformats.org/officeDocument/2006/relationships/notesMaster" Target="/ppt/notesMasters/notesMaster1.xml" Id="R346ad7a456f344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d6da5c0be34beb" /><Relationship Type="http://schemas.openxmlformats.org/officeDocument/2006/relationships/notesMaster" Target="/ppt/notesMasters/notesMaster1.xml" Id="R3b26187c66564f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44bdf2c7d3417b" /><Relationship Type="http://schemas.openxmlformats.org/officeDocument/2006/relationships/notesMaster" Target="/ppt/notesMasters/notesMaster1.xml" Id="R3fc7923351674b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d0760efc974d30" /><Relationship Type="http://schemas.openxmlformats.org/officeDocument/2006/relationships/notesMaster" Target="/ppt/notesMasters/notesMaster1.xml" Id="R182d342bb40f41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ead9ad66f2472b" /><Relationship Type="http://schemas.openxmlformats.org/officeDocument/2006/relationships/notesMaster" Target="/ppt/notesMasters/notesMaster1.xml" Id="R23b301f0c48842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450e093a7c44bc" /><Relationship Type="http://schemas.openxmlformats.org/officeDocument/2006/relationships/notesMaster" Target="/ppt/notesMasters/notesMaster1.xml" Id="Rc484778350d146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f5e8b915b64929" /><Relationship Type="http://schemas.openxmlformats.org/officeDocument/2006/relationships/notesMaster" Target="/ppt/notesMasters/notesMaster1.xml" Id="Rfe3d15874a6640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d1a98d785a4a3e" /><Relationship Type="http://schemas.openxmlformats.org/officeDocument/2006/relationships/notesMaster" Target="/ppt/notesMasters/notesMaster1.xml" Id="Rffefc66a7ef544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4ab888f15e4e06" /><Relationship Type="http://schemas.openxmlformats.org/officeDocument/2006/relationships/notesMaster" Target="/ppt/notesMasters/notesMaster1.xml" Id="R9e38dd096b4d4c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1c6475b2c14d39" /><Relationship Type="http://schemas.openxmlformats.org/officeDocument/2006/relationships/notesMaster" Target="/ppt/notesMasters/notesMaster1.xml" Id="R8c06055bf88142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b7ae1913e14e9c" /><Relationship Type="http://schemas.openxmlformats.org/officeDocument/2006/relationships/notesMaster" Target="/ppt/notesMasters/notesMaster1.xml" Id="Rd741b7bfd6de48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47fa966b574432" /><Relationship Type="http://schemas.openxmlformats.org/officeDocument/2006/relationships/notesMaster" Target="/ppt/notesMasters/notesMaster1.xml" Id="R1cafc33cdcfd46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report for the full repository. The project supports monitoring of a CO2 adsorption system. The user confirms Vercel frontend hosting and Railway Django hosting. Report scope includes implemented source, current hosted UI observations and outstanding physical integration. It does not claim industrial readiness or live physical sensor measurements.</a:t>
            </a:r>
          </a:p>
          <a:p xmlns:a="http://schemas.openxmlformats.org/drawingml/2006/main">
            <a:r>
              <a:t/>
            </a:r>
          </a:p>
          <a:p xmlns:a="http://schemas.openxmlformats.org/drawingml/2006/main">
            <a:r>
              <a:t>Sources and evidence:</a:t>
            </a:r>
          </a:p>
          <a:p xmlns:a="http://schemas.openxmlformats.org/drawingml/2006/main">
            <a:r>
              <a:t>https://zcharmc-monitoring.vercel.app/dashboard</a:t>
            </a:r>
          </a:p>
          <a:p xmlns:a="http://schemas.openxmlformats.org/drawingml/2006/main">
            <a:r>
              <a:t>https://github.com/Edaokie/zcharmc.monitoring/blob/e0933f5/README.md</a:t>
            </a:r>
          </a:p>
          <a:p xmlns:a="http://schemas.openxmlformats.org/drawingml/2006/main">
            <a:r>
              <a:t>User-provided hosting confirmation,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deployed web applications from implemented firmware delivery and unverified equipment behavior. Avoid reporting an overall completion percentage because there is no agreed weighted baseline. Backend hosting comes from the user; exact deployed commit and environment variables were not independently inspected.</a:t>
            </a:r>
          </a:p>
          <a:p xmlns:a="http://schemas.openxmlformats.org/drawingml/2006/main">
            <a:r>
              <a:t/>
            </a:r>
          </a:p>
          <a:p xmlns:a="http://schemas.openxmlformats.org/drawingml/2006/main">
            <a:r>
              <a:t>Sources and evidence:</a:t>
            </a:r>
          </a:p>
          <a:p xmlns:a="http://schemas.openxmlformats.org/drawingml/2006/main">
            <a:r>
              <a:t>https://github.com/Edaokie/zcharmc.monitoring/blob/e0933f5/README.md</a:t>
            </a:r>
          </a:p>
          <a:p xmlns:a="http://schemas.openxmlformats.org/drawingml/2006/main">
            <a:r>
              <a:t>https://github.com/Edaokie/zcharmc.monitoring/blob/e0933f5/docs/OTA_VERIFICATION.md</a:t>
            </a:r>
          </a:p>
          <a:p xmlns:a="http://schemas.openxmlformats.org/drawingml/2006/main">
            <a:r>
              <a:t>https://zcharmc-monitoring.vercel.app/dashboard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in README describes the target telemetry path. Browsers load from Vercel and connect to Railway. Backend code expects PostgreSQL in production. Do not claim direct ESP32 telemetry currently reaches it: active native firmware provides provisioning, status and OTA only. The architecture excludes a required Raspberry Pi.</a:t>
            </a:r>
          </a:p>
          <a:p xmlns:a="http://schemas.openxmlformats.org/drawingml/2006/main">
            <a:r>
              <a:t/>
            </a:r>
          </a:p>
          <a:p xmlns:a="http://schemas.openxmlformats.org/drawingml/2006/main">
            <a:r>
              <a:t>Sources and evidence:</a:t>
            </a:r>
          </a:p>
          <a:p xmlns:a="http://schemas.openxmlformats.org/drawingml/2006/main">
            <a:r>
              <a:t>https://github.com/Edaokie/zcharmc.monitoring/blob/e0933f5/README.md</a:t>
            </a:r>
          </a:p>
          <a:p xmlns:a="http://schemas.openxmlformats.org/drawingml/2006/main">
            <a:r>
              <a:t>https://github.com/Edaokie/zcharmc.monitoring/blob/e0933f5/backend/config/settings.py</a:t>
            </a:r>
          </a:p>
          <a:p xmlns:a="http://schemas.openxmlformats.org/drawingml/2006/main">
            <a:r>
              <a:t>https://github.com/Edaokie/zcharmc.monitoring/blob/e0933f5/firmware/src/CMakeLists.txt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hosted dashboard screenshot captured on 15 October 2026 using the demonstration client login, not a real institutional credential. The page showed Backend connected, stale inlet/outlet readings, no adsorption efficiency, missing solenoid telemetry and unavailable equipment control. Do not interpret displayed values as validated physical measurements or performance results. Image is evidence of deployed UI behavior, not plant connectivity. Local auth code simulates sign-in and roles.</a:t>
            </a:r>
          </a:p>
          <a:p xmlns:a="http://schemas.openxmlformats.org/drawingml/2006/main">
            <a:r>
              <a:t/>
            </a:r>
          </a:p>
          <a:p xmlns:a="http://schemas.openxmlformats.org/drawingml/2006/main">
            <a:r>
              <a:t>Sources and evidence:</a:t>
            </a:r>
          </a:p>
          <a:p xmlns:a="http://schemas.openxmlformats.org/drawingml/2006/main">
            <a:r>
              <a:t>https://zcharmc-monitoring.vercel.app/dashboard</a:t>
            </a:r>
          </a:p>
          <a:p xmlns:a="http://schemas.openxmlformats.org/drawingml/2006/main">
            <a:r>
              <a:t>https://github.com/Edaokie/zcharmc.monitoring/blob/e0933f5/frontend/src/lib/auth.tsx</a:t>
            </a:r>
          </a:p>
          <a:p xmlns:a="http://schemas.openxmlformats.org/drawingml/2006/main">
            <a:r>
              <a:t>https://github.com/Edaokie/zcharmc.monitoring/blob/e0933f5/frontend/src/routes/_app.dashboard.tsx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Backend capabilities are source-verified. Ingestion commits data before acknowledgement and broadcasts after commit. Duplicate identities are scoped by node/message ID. Device OTA credentials are distinct from the existing shared telemetry ingestion credential. Staff permissions gate device approval. User confirms hosting on Railway, but no exact production commit comparison was made for every listed feature.</a:t>
            </a:r>
          </a:p>
          <a:p xmlns:a="http://schemas.openxmlformats.org/drawingml/2006/main">
            <a:r>
              <a:t/>
            </a:r>
          </a:p>
          <a:p xmlns:a="http://schemas.openxmlformats.org/drawingml/2006/main">
            <a:r>
              <a:t>Sources and evidence:</a:t>
            </a:r>
          </a:p>
          <a:p xmlns:a="http://schemas.openxmlformats.org/drawingml/2006/main">
            <a:r>
              <a:t>https://github.com/Edaokie/zcharmc.monitoring/blob/e0933f5/backend/monitoring/services.py</a:t>
            </a:r>
          </a:p>
          <a:p xmlns:a="http://schemas.openxmlformats.org/drawingml/2006/main">
            <a:r>
              <a:t>https://github.com/Edaokie/zcharmc.monitoring/blob/e0933f5/backend/monitoring/views.py</a:t>
            </a:r>
          </a:p>
          <a:p xmlns:a="http://schemas.openxmlformats.org/drawingml/2006/main">
            <a:r>
              <a:t>https://github.com/Edaokie/zcharmc.monitoring/blob/e0933f5/backend/monitoring/ota.py</a:t>
            </a:r>
          </a:p>
          <a:p xmlns:a="http://schemas.openxmlformats.org/drawingml/2006/main">
            <a:r>
              <a:t>https://github.com/Edaokie/zcharmc.monitoring/blob/e0933f5/backend/monitoring/admin.py</a:t>
            </a:r>
          </a:p>
          <a:p xmlns:a="http://schemas.openxmlformats.org/drawingml/2006/main">
            <a:r>
              <a:t>https://github.com/Edaokie/zcharmc.monitoring/blob/e0933f5/backend/Dockerfile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Active CMake compiles src/idf only. Legacy Arduino files remain reference code and are excluded. PlatformIO has inlet/outlet/control profiles, shared native C sources and build-time role identity. Each physical board still needs its own device ID and bearer token. Current generic ESP32 4 MB hardware assumption is not yet validated against the LilyGO T-SIM7000G diagram. LOW outputs are bench behavior, not proof of safe actuator states.</a:t>
            </a:r>
          </a:p>
          <a:p xmlns:a="http://schemas.openxmlformats.org/drawingml/2006/main">
            <a:r>
              <a:t/>
            </a:r>
          </a:p>
          <a:p xmlns:a="http://schemas.openxmlformats.org/drawingml/2006/main">
            <a:r>
              <a:t>Sources and evidence:</a:t>
            </a:r>
          </a:p>
          <a:p xmlns:a="http://schemas.openxmlformats.org/drawingml/2006/main">
            <a:r>
              <a:t>https://github.com/Edaokie/zcharmc.monitoring/blob/e0933f5/firmware/platformio.ini</a:t>
            </a:r>
          </a:p>
          <a:p xmlns:a="http://schemas.openxmlformats.org/drawingml/2006/main">
            <a:r>
              <a:t>https://github.com/Edaokie/zcharmc.monitoring/blob/e0933f5/firmware/src/CMakeLists.txt</a:t>
            </a:r>
          </a:p>
          <a:p xmlns:a="http://schemas.openxmlformats.org/drawingml/2006/main">
            <a:r>
              <a:t>https://github.com/Edaokie/zcharmc.monitoring/blob/e0933f5/firmware/src/idf/main.c</a:t>
            </a:r>
          </a:p>
          <a:p xmlns:a="http://schemas.openxmlformats.org/drawingml/2006/main">
            <a:r>
              <a:t>https://github.com/Edaokie/zcharmc.monitoring/blob/e0933f5/firmware/README.md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implementation exists in .github/workflows/firmware-release.yml, firmware/tools/register_release.py and backend/monitoring/release_registration.py. A manual workflow_dispatch retries registration of an existing release without rebuilding or republishing. Registration uses its own scoped credential, supports idempotent retries, and preserves enablement/assignments. Actual tagged execution, environment setup and physical OTA acceptance are still unverified. Device downloads to an inactive slot and uses ESP-IDF pending-boot verification/rollback.</a:t>
            </a:r>
          </a:p>
          <a:p xmlns:a="http://schemas.openxmlformats.org/drawingml/2006/main">
            <a:r>
              <a:t/>
            </a:r>
          </a:p>
          <a:p xmlns:a="http://schemas.openxmlformats.org/drawingml/2006/main">
            <a:r>
              <a:t>Sources and evidence:</a:t>
            </a:r>
          </a:p>
          <a:p xmlns:a="http://schemas.openxmlformats.org/drawingml/2006/main">
            <a:r>
              <a:t>https://github.com/Edaokie/zcharmc.monitoring/blob/e0933f5/.github/workflows/firmware-release.yml</a:t>
            </a:r>
          </a:p>
          <a:p xmlns:a="http://schemas.openxmlformats.org/drawingml/2006/main">
            <a:r>
              <a:t>https://github.com/Edaokie/zcharmc.monitoring/blob/e0933f5/firmware/tools/register_release.py</a:t>
            </a:r>
          </a:p>
          <a:p xmlns:a="http://schemas.openxmlformats.org/drawingml/2006/main">
            <a:r>
              <a:t>https://github.com/Edaokie/zcharmc.monitoring/blob/e0933f5/backend/monitoring/release_registration.py</a:t>
            </a:r>
          </a:p>
          <a:p xmlns:a="http://schemas.openxmlformats.org/drawingml/2006/main">
            <a:r>
              <a:t>https://github.com/Edaokie/zcharmc.monitoring/blob/e0933f5/firmware/src/idf/ota.c</a:t>
            </a:r>
          </a:p>
          <a:p xmlns:a="http://schemas.openxmlformats.org/drawingml/2006/main">
            <a:r>
              <a:t>https://github.com/Edaokie/zcharmc.monitoring/blob/e0933f5/docs/FIRMWARE_CICD.md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refer to completed local checks during the 15 October 2026 repository review, not counts of end-to-end plant tests. Latest backend and host reruns passed 39 and 10 tests. Backend used SQLite; PostgreSQL was not repeated in that pass. Frontend previously passed 10 tests, TypeScript and production build, with 8 lint warnings and 0 lint errors. All 3 native profiles compiled. Host tests use Python/OpenSSL and do not execute the ESP32 application C code. Actionlint ran with optional ShellCheck/Pyflakes integrations disabled.</a:t>
            </a:r>
          </a:p>
          <a:p xmlns:a="http://schemas.openxmlformats.org/drawingml/2006/main">
            <a:r>
              <a:t/>
            </a:r>
          </a:p>
          <a:p xmlns:a="http://schemas.openxmlformats.org/drawingml/2006/main">
            <a:r>
              <a:t>Sources and evidence:</a:t>
            </a:r>
          </a:p>
          <a:p xmlns:a="http://schemas.openxmlformats.org/drawingml/2006/main">
            <a:r>
              <a:t>https://github.com/Edaokie/zcharmc.monitoring/blob/e0933f5/docs/OTA_VERIFICATION.md</a:t>
            </a:r>
          </a:p>
          <a:p xmlns:a="http://schemas.openxmlformats.org/drawingml/2006/main">
            <a:r>
              <a:t>https://github.com/Edaokie/zcharmc.monitoring/blob/e0933f5/backend/tests/test_ota.py</a:t>
            </a:r>
          </a:p>
          <a:p xmlns:a="http://schemas.openxmlformats.org/drawingml/2006/main">
            <a:r>
              <a:t>https://github.com/Edaokie/zcharmc.monitoring/blob/e0933f5/firmware/tests_host/test_register_release.py</a:t>
            </a:r>
          </a:p>
          <a:p xmlns:a="http://schemas.openxmlformats.org/drawingml/2006/main">
            <a:r>
              <a:t>https://github.com/Edaokie/zcharmc.monitoring/blob/e0933f5/frontend/tests/monitoring.test.ts</a:t>
            </a:r>
          </a:p>
          <a:p xmlns:a="http://schemas.openxmlformats.org/drawingml/2006/main">
            <a:r>
              <a:t>https://github.com/Edaokie/zcharmc.monitoring/blob/e0933f5/frontend/tests/readings.test.ts</a:t>
            </a:r>
          </a:p>
          <a:p xmlns:a="http://schemas.openxmlformats.org/drawingml/2006/main">
            <a:r>
              <a:t>Local command outputs from the 15 October 2026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 found partial multi-key provisioning can be accepted as provisioned, backend origin validation is incomplete, and persisting an attempt before selecting a boot partition can mislabel rollback. Earlier local Gunicorn test reproduced HTTP success with 7 open WebSockets and timeout with 8, matching one worker/eight gthread threads. Report charts use the current 50-row page, timezone-free custom inputs become UTC, and Apply can race old/new-page requests. These findings were not fixed by CI/CD or documentation work. Do not include old tracked-secret finding as current: commit e4a8bc6 stopped tracking secrets.h, although any historical live credentials still require owner handling.</a:t>
            </a:r>
          </a:p>
          <a:p xmlns:a="http://schemas.openxmlformats.org/drawingml/2006/main">
            <a:r>
              <a:t/>
            </a:r>
          </a:p>
          <a:p xmlns:a="http://schemas.openxmlformats.org/drawingml/2006/main">
            <a:r>
              <a:t>Sources and evidence:</a:t>
            </a:r>
          </a:p>
          <a:p xmlns:a="http://schemas.openxmlformats.org/drawingml/2006/main">
            <a:r>
              <a:t>https://github.com/Edaokie/zcharmc.monitoring/blob/e0933f5/docs/OTA_VERIFICATION.md</a:t>
            </a:r>
          </a:p>
          <a:p xmlns:a="http://schemas.openxmlformats.org/drawingml/2006/main">
            <a:r>
              <a:t>https://github.com/Edaokie/zcharmc.monitoring/blob/e0933f5/firmware/src/idf/config.c</a:t>
            </a:r>
          </a:p>
          <a:p xmlns:a="http://schemas.openxmlformats.org/drawingml/2006/main">
            <a:r>
              <a:t>https://github.com/Edaokie/zcharmc.monitoring/blob/e0933f5/firmware/src/idf/ota.c</a:t>
            </a:r>
          </a:p>
          <a:p xmlns:a="http://schemas.openxmlformats.org/drawingml/2006/main">
            <a:r>
              <a:t>https://github.com/Edaokie/zcharmc.monitoring/blob/e0933f5/backend/gunicorn.conf.py</a:t>
            </a:r>
          </a:p>
          <a:p xmlns:a="http://schemas.openxmlformats.org/drawingml/2006/main">
            <a:r>
              <a:t>https://github.com/Edaokie/zcharmc.monitoring/blob/e0933f5/frontend/src/routes/_app.reports.tsx</a:t>
            </a:r>
          </a:p>
          <a:p xmlns:a="http://schemas.openxmlformats.org/drawingml/2006/main">
            <a:r>
              <a:t>https://github.com/Edaokie/zcharmc.monitoring/blob/e0933f5/frontend/src/lib/auth.tsx</a:t>
            </a:r>
          </a:p>
          <a:p xmlns:a="http://schemas.openxmlformats.org/drawingml/2006/main">
            <a:r>
              <a:t>Local WebSocket capacity test and source review,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documentation is included in local commit e0933f5. Beginner instructions distinguish software-only tests, cloud delivery, initial USB flashing and supervised physical acceptance. The acceptance template starts NOT RUN and is not an assertion that boards passed tests. Setup commands have placeholders rather than real secrets. Repository documentation was checked for local links, shell syntax and JSON validity.</a:t>
            </a:r>
          </a:p>
          <a:p xmlns:a="http://schemas.openxmlformats.org/drawingml/2006/main">
            <a:r>
              <a:t/>
            </a:r>
          </a:p>
          <a:p xmlns:a="http://schemas.openxmlformats.org/drawingml/2006/main">
            <a:r>
              <a:t>Sources and evidence:</a:t>
            </a:r>
          </a:p>
          <a:p xmlns:a="http://schemas.openxmlformats.org/drawingml/2006/main">
            <a:r>
              <a:t>https://github.com/Edaokie/zcharmc.monitoring/blob/e0933f5/docs/OTA_BEGINNERS_GUIDE.md</a:t>
            </a:r>
          </a:p>
          <a:p xmlns:a="http://schemas.openxmlformats.org/drawingml/2006/main">
            <a:r>
              <a:t>https://github.com/Edaokie/zcharmc.monitoring/blob/e0933f5/docs/FIRMWARE_CICD.md</a:t>
            </a:r>
          </a:p>
          <a:p xmlns:a="http://schemas.openxmlformats.org/drawingml/2006/main">
            <a:r>
              <a:t>https://github.com/Edaokie/zcharmc.monitoring/blob/e0933f5/docs/OTA_VERIFICATION.md</a:t>
            </a:r>
          </a:p>
          <a:p xmlns:a="http://schemas.openxmlformats.org/drawingml/2006/main">
            <a:r>
              <a:t>https://github.com/Edaokie/zcharmc.monitoring/blob/e0933f5/docs/OTA_TEST_RECORD.md</a:t>
            </a:r>
          </a:p>
          <a:p xmlns:a="http://schemas.openxmlformats.org/drawingml/2006/main">
            <a:r>
              <a:t>https://github.com/Edaokie/zcharmc.monitoring/blob/e0933f5/docs/CLOUD_SETUP.md</a:t>
            </a:r>
          </a:p>
          <a:p xmlns:a="http://schemas.openxmlformats.org/drawingml/2006/main">
            <a:r>
              <a:t>https://github.com/Edaokie/zcharmc.monitoring/blob/e0933f5/docs/MAINTENANCE.md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not a dated project commitment. First address provisioning/recovery defects as part of the bench phase. GitHub owner must configure signing and registration secrets; backend admin must deploy/configure the registration endpoint; hardware maintainer must verify board and actuator compatibility. Integration must keep local control independent of cloud availability. No personnel names, budgets or deadlines were supplied.</a:t>
            </a:r>
          </a:p>
          <a:p xmlns:a="http://schemas.openxmlformats.org/drawingml/2006/main">
            <a:r>
              <a:t/>
            </a:r>
          </a:p>
          <a:p xmlns:a="http://schemas.openxmlformats.org/drawingml/2006/main">
            <a:r>
              <a:t>Sources and evidence:</a:t>
            </a:r>
          </a:p>
          <a:p xmlns:a="http://schemas.openxmlformats.org/drawingml/2006/main">
            <a:r>
              <a:t>https://github.com/Edaokie/zcharmc.monitoring/blob/e0933f5/docs/OTA_BEGINNERS_GUIDE.md</a:t>
            </a:r>
          </a:p>
          <a:p xmlns:a="http://schemas.openxmlformats.org/drawingml/2006/main">
            <a:r>
              <a:t>https://github.com/Edaokie/zcharmc.monitoring/blob/e0933f5/docs/FIRMWARE_CICD.md</a:t>
            </a:r>
          </a:p>
          <a:p xmlns:a="http://schemas.openxmlformats.org/drawingml/2006/main">
            <a:r>
              <a:t>https://github.com/Edaokie/zcharmc.monitoring/blob/e0933f5/docs/OTA_TEST_RECORD.md</a:t>
            </a:r>
          </a:p>
          <a:p xmlns:a="http://schemas.openxmlformats.org/drawingml/2006/main">
            <a:r>
              <a:t>https://github.com/Edaokie/zcharmc.monitoring/blob/e0933f5/README.md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demonstration. Navigate the hosted Vercel dashboard, Reports and Alerts. Existing readings may be stale or test data; do not present them as a live adsorption experiment. Then show repository workflows and beginner documentation. A real physical update should be shown only after successful controlled bench acceptance, with the corresponding record. Exact production backend code/version and release environment settings have not been independently verified in this presentation task.</a:t>
            </a:r>
          </a:p>
          <a:p xmlns:a="http://schemas.openxmlformats.org/drawingml/2006/main">
            <a:r>
              <a:t/>
            </a:r>
          </a:p>
          <a:p xmlns:a="http://schemas.openxmlformats.org/drawingml/2006/main">
            <a:r>
              <a:t>Sources and evidence:</a:t>
            </a:r>
          </a:p>
          <a:p xmlns:a="http://schemas.openxmlformats.org/drawingml/2006/main">
            <a:r>
              <a:t>https://zcharmc-monitoring.vercel.app/dashboard</a:t>
            </a:r>
          </a:p>
          <a:p xmlns:a="http://schemas.openxmlformats.org/drawingml/2006/main">
            <a:r>
              <a:t>https://github.com/Edaokie/zcharmc.monitoring</a:t>
            </a:r>
          </a:p>
          <a:p xmlns:a="http://schemas.openxmlformats.org/drawingml/2006/main">
            <a:r>
              <a:t>https://github.com/Edaokie/zcharmc.monitoring/blob/e0933f5/docs/OTA_BEGINNERS_GUIDE.md</a:t>
            </a:r>
          </a:p>
          <a:p xmlns:a="http://schemas.openxmlformats.org/drawingml/2006/main">
            <a:r>
              <a:t>https://github.com/Edaokie/zcharmc.monitoring/blob/e0933f5/docs/OTA_TEST_RECORD.md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d11c9a6e2a4f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d30a3e070841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4132a7befb47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5a9425487442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e8ebac532e47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0df073e5894b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DE19A1-0B18-4124-8E58-619B643E5A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6D02AF-F10C-405C-B592-720868C6A3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DAA819-5BBF-4E58-87C7-444C886728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E4738A-C794-420C-A6BF-5CA8C73F4A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4D39CF-1B94-4CA1-B828-C79FBCDE84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313244-55C1-4931-ACE9-7A7344524C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D16FDC-A8CB-404A-89BD-B640906B06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93E8E3-EA7B-4F21-B7B7-B5BC46F323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F4831C-D29D-455C-B5EE-EA702C70F9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789761-FCCB-4BAC-98A7-7BB951A85A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493ee812254a57" /><Relationship Type="http://schemas.openxmlformats.org/officeDocument/2006/relationships/slideLayout" Target="/ppt/slideLayouts/slideLayout1.xml" Id="Ra5eab537bfbb4707" /><Relationship Type="http://schemas.openxmlformats.org/officeDocument/2006/relationships/slideLayout" Target="/ppt/slideLayouts/slideLayout2.xml" Id="R3d04a6ed6e114210" /><Relationship Type="http://schemas.openxmlformats.org/officeDocument/2006/relationships/slideLayout" Target="/ppt/slideLayouts/slideLayout3.xml" Id="Ra80c5917c96047fd" /><Relationship Type="http://schemas.openxmlformats.org/officeDocument/2006/relationships/slideLayout" Target="/ppt/slideLayouts/slideLayout4.xml" Id="R4b603255a08e449a" /><Relationship Type="http://schemas.openxmlformats.org/officeDocument/2006/relationships/slideLayout" Target="/ppt/slideLayouts/slideLayout5.xml" Id="R5c257b0bfcd24a16" /><Relationship Type="http://schemas.openxmlformats.org/officeDocument/2006/relationships/slideLayout" Target="/ppt/slideLayouts/slideLayout6.xml" Id="R86702818387b40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eab537bfbb4707"/>
    <p:sldLayoutId xmlns:r="http://schemas.openxmlformats.org/officeDocument/2006/relationships" id="2147483650" r:id="R3d04a6ed6e114210"/>
    <p:sldLayoutId xmlns:r="http://schemas.openxmlformats.org/officeDocument/2006/relationships" id="2147483651" r:id="Ra80c5917c96047fd"/>
    <p:sldLayoutId xmlns:r="http://schemas.openxmlformats.org/officeDocument/2006/relationships" id="2147483652" r:id="R4b603255a08e449a"/>
    <p:sldLayoutId xmlns:r="http://schemas.openxmlformats.org/officeDocument/2006/relationships" id="2147483653" r:id="R5c257b0bfcd24a16"/>
    <p:sldLayoutId xmlns:r="http://schemas.openxmlformats.org/officeDocument/2006/relationships" id="2147483654" r:id="R86702818387b40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a81949e49d4ce6" /><Relationship Type="http://schemas.openxmlformats.org/officeDocument/2006/relationships/notesSlide" Target="/ppt/notesSlides/notesSlide1.xml" Id="R1339d6ea151b47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2596a3c0c84bd5" /><Relationship Type="http://schemas.openxmlformats.org/officeDocument/2006/relationships/notesSlide" Target="/ppt/notesSlides/notesSlide2.xml" Id="Rc309824ce20947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ab77e7c1a64780" /><Relationship Type="http://schemas.openxmlformats.org/officeDocument/2006/relationships/notesSlide" Target="/ppt/notesSlides/notesSlide3.xml" Id="R2859a6505da64d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166cef602d43de" /><Relationship Type="http://schemas.openxmlformats.org/officeDocument/2006/relationships/image" Target="/ppt/media/image.jpeg" Id="R9437c7f02d244b16" /><Relationship Type="http://schemas.openxmlformats.org/officeDocument/2006/relationships/notesSlide" Target="/ppt/notesSlides/notesSlide4.xml" Id="R8cc1bd0833584c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47c0e57d874350" /><Relationship Type="http://schemas.openxmlformats.org/officeDocument/2006/relationships/notesSlide" Target="/ppt/notesSlides/notesSlide5.xml" Id="Re82f88cd1e9540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9e6705b30c4925" /><Relationship Type="http://schemas.openxmlformats.org/officeDocument/2006/relationships/notesSlide" Target="/ppt/notesSlides/notesSlide6.xml" Id="Rf23f10abd83846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88a2a3f7cd4925" /><Relationship Type="http://schemas.openxmlformats.org/officeDocument/2006/relationships/notesSlide" Target="/ppt/notesSlides/notesSlide7.xml" Id="R6aea4f8b6dd34b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d112c076aa14e57" /><Relationship Type="http://schemas.openxmlformats.org/officeDocument/2006/relationships/notesSlide" Target="/ppt/notesSlides/notesSlide8.xml" Id="R6ccc5d9f3a034e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850007fbc44435" /><Relationship Type="http://schemas.openxmlformats.org/officeDocument/2006/relationships/notesSlide" Target="/ppt/notesSlides/notesSlide9.xml" Id="Rd9d6b6afdc6e48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5af74afd7a4837" /><Relationship Type="http://schemas.openxmlformats.org/officeDocument/2006/relationships/notesSlide" Target="/ppt/notesSlides/notesSlide10.xml" Id="Ra3f7a171902c49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f477a0612d4790" /><Relationship Type="http://schemas.openxmlformats.org/officeDocument/2006/relationships/notesSlide" Target="/ppt/notesSlides/notesSlide11.xml" Id="Rc1b156a4114b49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8553a4a01e47b1" /><Relationship Type="http://schemas.openxmlformats.org/officeDocument/2006/relationships/notesSlide" Target="/ppt/notesSlides/notesSlide12.xml" Id="Ra99445e419484849" /></Relationships>
</file>

<file path=ppt/slides/slide1.xml><?xml version="1.0" encoding="utf-8"?>
<p:sld xmlns:p="http://schemas.openxmlformats.org/presentationml/2006/main">
  <p:cSld>
    <p:bg>
      <p:bgPr>
        <a:solidFill xmlns:a="http://schemas.openxmlformats.org/drawingml/2006/main">
          <a:srgbClr val="102A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B86356-C36C-48B4-A1F7-17E0401E1708}"/>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BBD4D0"/>
                </a:solidFill>
                <a:latin typeface="Helvetica Neue"/>
                <a:ea typeface="Helvetica Neue"/>
                <a:cs typeface="Helvetica Neue"/>
              </a:defRPr>
            </a:defPPr>
          </a:lstStyle>
          <a:p xmlns:a="http://schemas.openxmlformats.org/drawingml/2006/main">
            <a:pPr>
              <a:defRPr sz="1200" b="0">
                <a:solidFill>
                  <a:srgbClr val="BBD4D0"/>
                </a:solidFill>
                <a:latin typeface="Helvetica Neue"/>
                <a:ea typeface="Helvetica Neue"/>
                <a:cs typeface="Helvetica Neue"/>
              </a:defRPr>
            </a:pPr>
            <a:r>
              <a:rPr sz="1200" b="0">
                <a:solidFill>
                  <a:srgbClr val="BBD4D0"/>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FA5271D1-5DCD-4050-99E9-0718BF2C36E9}"/>
              </a:ext>
            </a:extLst>
          </p:cNvPr>
          <p:cNvSpPr>
            <a:spLocks xmlns:a="http://schemas.openxmlformats.org/drawingml/2006/main" noGrp="1"/>
          </p:cNvSpPr>
          <p:nvPr/>
        </p:nvSpPr>
        <p:spPr>
          <a:xfrm xmlns:a="http://schemas.openxmlformats.org/drawingml/2006/main">
            <a:off x="647700" y="6667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A5D6CE"/>
                </a:solidFill>
                <a:latin typeface="Helvetica Neue"/>
                <a:ea typeface="Helvetica Neue"/>
                <a:cs typeface="Helvetica Neue"/>
              </a:defRPr>
            </a:defPPr>
          </a:lstStyle>
          <a:p xmlns:a="http://schemas.openxmlformats.org/drawingml/2006/main">
            <a:pPr>
              <a:defRPr sz="1350" b="1">
                <a:solidFill>
                  <a:srgbClr val="A5D6CE"/>
                </a:solidFill>
                <a:latin typeface="Helvetica Neue"/>
                <a:ea typeface="Helvetica Neue"/>
                <a:cs typeface="Helvetica Neue"/>
              </a:defRPr>
            </a:pPr>
            <a:r>
              <a:rPr sz="1350" b="1">
                <a:solidFill>
                  <a:srgbClr val="A5D6CE"/>
                </a:solidFill>
                <a:latin typeface="Helvetica Neue"/>
                <a:ea typeface="Helvetica Neue"/>
                <a:cs typeface="Helvetica Neue"/>
              </a:rPr>
              <a:t>PROJECT PROGRESS REPORT</a:t>
            </a:r>
          </a:p>
        </p:txBody>
      </p:sp>
      <p:sp>
        <p:nvSpPr>
          <p:cNvPr id="3" name="">
            <a:extLst xmlns:a="http://schemas.openxmlformats.org/drawingml/2006/main">
              <a:ext uri="{FF2B5EF4-FFF2-40B4-BE49-F238E27FC236}">
                <a16:creationId xmlns:a16="http://schemas.microsoft.com/office/drawing/2014/main" id="{6C067205-16FF-4890-9C59-1BBE93F5B531}"/>
              </a:ext>
            </a:extLst>
          </p:cNvPr>
          <p:cNvSpPr>
            <a:spLocks xmlns:a="http://schemas.openxmlformats.org/drawingml/2006/main" noGrp="1"/>
          </p:cNvSpPr>
          <p:nvPr/>
        </p:nvSpPr>
        <p:spPr>
          <a:xfrm xmlns:a="http://schemas.openxmlformats.org/drawingml/2006/main">
            <a:off x="609600" y="1638300"/>
            <a:ext cx="106680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000" b="1">
                <a:solidFill>
                  <a:srgbClr val="FFFFFF"/>
                </a:solidFill>
                <a:latin typeface="Helvetica Neue"/>
                <a:ea typeface="Helvetica Neue"/>
                <a:cs typeface="Helvetica Neue"/>
              </a:defRPr>
            </a:defPPr>
          </a:lstStyle>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ZCharMC</a:t>
            </a:r>
          </a:p>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Monitoring</a:t>
            </a:r>
          </a:p>
        </p:txBody>
      </p:sp>
      <p:sp>
        <p:nvSpPr>
          <p:cNvPr id="4" name="">
            <a:extLst xmlns:a="http://schemas.openxmlformats.org/drawingml/2006/main">
              <a:ext uri="{FF2B5EF4-FFF2-40B4-BE49-F238E27FC236}">
                <a16:creationId xmlns:a16="http://schemas.microsoft.com/office/drawing/2014/main" id="{29F460B7-0564-4C4A-9854-D2CE9BF453ED}"/>
              </a:ext>
            </a:extLst>
          </p:cNvPr>
          <p:cNvSpPr>
            <a:spLocks xmlns:a="http://schemas.openxmlformats.org/drawingml/2006/main" noGrp="1"/>
          </p:cNvSpPr>
          <p:nvPr/>
        </p:nvSpPr>
        <p:spPr>
          <a:xfrm xmlns:a="http://schemas.openxmlformats.org/drawingml/2006/main">
            <a:off x="647700" y="37909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C5DED8"/>
                </a:solidFill>
                <a:latin typeface="Helvetica Neue"/>
                <a:ea typeface="Helvetica Neue"/>
                <a:cs typeface="Helvetica Neue"/>
              </a:defRPr>
            </a:defPPr>
          </a:lstStyle>
          <a:p xmlns:a="http://schemas.openxmlformats.org/drawingml/2006/main">
            <a:pPr>
              <a:defRPr sz="2550" b="0">
                <a:solidFill>
                  <a:srgbClr val="C5DED8"/>
                </a:solidFill>
                <a:latin typeface="Helvetica Neue"/>
                <a:ea typeface="Helvetica Neue"/>
                <a:cs typeface="Helvetica Neue"/>
              </a:defRPr>
            </a:pPr>
            <a:r>
              <a:rPr sz="2550" b="0">
                <a:solidFill>
                  <a:srgbClr val="C5DED8"/>
                </a:solidFill>
                <a:latin typeface="Helvetica Neue"/>
                <a:ea typeface="Helvetica Neue"/>
                <a:cs typeface="Helvetica Neue"/>
              </a:rPr>
              <a:t>CO₂ adsorption monitoring system</a:t>
            </a:r>
          </a:p>
        </p:txBody>
      </p:sp>
      <p:sp>
        <p:nvSpPr>
          <p:cNvPr id="5" name="">
            <a:extLst xmlns:a="http://schemas.openxmlformats.org/drawingml/2006/main">
              <a:ext uri="{FF2B5EF4-FFF2-40B4-BE49-F238E27FC236}">
                <a16:creationId xmlns:a16="http://schemas.microsoft.com/office/drawing/2014/main" id="{80E6D614-33BB-49E4-B20E-35B2DAE76161}"/>
              </a:ext>
            </a:extLst>
          </p:cNvPr>
          <p:cNvSpPr>
            <a:spLocks xmlns:a="http://schemas.openxmlformats.org/drawingml/2006/main" noGrp="1"/>
          </p:cNvSpPr>
          <p:nvPr/>
        </p:nvSpPr>
        <p:spPr>
          <a:xfrm xmlns:a="http://schemas.openxmlformats.org/drawingml/2006/main">
            <a:off x="647700" y="47815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FFFFFF"/>
                </a:solidFill>
                <a:latin typeface="Helvetica Neue"/>
                <a:ea typeface="Helvetica Neue"/>
                <a:cs typeface="Helvetica Neue"/>
              </a:defRPr>
            </a:defPPr>
          </a:lstStyle>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Frontend on Vercel</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Django backend on Railway</a:t>
            </a:r>
          </a:p>
        </p:txBody>
      </p:sp>
      <p:sp>
        <p:nvSpPr>
          <p:cNvPr id="6" name="">
            <a:extLst xmlns:a="http://schemas.openxmlformats.org/drawingml/2006/main">
              <a:ext uri="{FF2B5EF4-FFF2-40B4-BE49-F238E27FC236}">
                <a16:creationId xmlns:a16="http://schemas.microsoft.com/office/drawing/2014/main" id="{DA28A166-8AE9-4B9D-9A90-027DA8852EDB}"/>
              </a:ext>
            </a:extLst>
          </p:cNvPr>
          <p:cNvSpPr>
            <a:spLocks xmlns:a="http://schemas.openxmlformats.org/drawingml/2006/main" noGrp="1"/>
          </p:cNvSpPr>
          <p:nvPr/>
        </p:nvSpPr>
        <p:spPr>
          <a:xfrm xmlns:a="http://schemas.openxmlformats.org/drawingml/2006/main">
            <a:off x="647700" y="6191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BBD4D0"/>
                </a:solidFill>
                <a:latin typeface="Helvetica Neue"/>
                <a:ea typeface="Helvetica Neue"/>
                <a:cs typeface="Helvetica Neue"/>
              </a:defRPr>
            </a:defPPr>
          </a:lstStyle>
          <a:p xmlns:a="http://schemas.openxmlformats.org/drawingml/2006/main">
            <a:pPr>
              <a:defRPr sz="1500" b="0">
                <a:solidFill>
                  <a:srgbClr val="BBD4D0"/>
                </a:solidFill>
                <a:latin typeface="Helvetica Neue"/>
                <a:ea typeface="Helvetica Neue"/>
                <a:cs typeface="Helvetica Neue"/>
              </a:defRPr>
            </a:pPr>
            <a:r>
              <a:rPr sz="1500" b="0">
                <a:solidFill>
                  <a:srgbClr val="BBD4D0"/>
                </a:solidFill>
                <a:latin typeface="Helvetica Neue"/>
                <a:ea typeface="Helvetica Neue"/>
                <a:cs typeface="Helvetica Neue"/>
              </a:rPr>
              <a:t>15 October 2026</a:t>
            </a:r>
          </a:p>
        </p:txBody>
      </p:sp>
    </p:spTree>
    <p:extLst>
      <p:ext uri="{BB962C8B-B14F-4D97-AF65-F5344CB8AC3E}">
        <p14:creationId xmlns:p14="http://schemas.microsoft.com/office/powerpoint/2010/main" val="821001934"/>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FB14B5-A2A9-44EA-865B-DE94D3A7EADE}"/>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Current project status</a:t>
            </a:r>
          </a:p>
        </p:txBody>
      </p:sp>
      <p:sp>
        <p:nvSpPr>
          <p:cNvPr id="2" name="">
            <a:extLst xmlns:a="http://schemas.openxmlformats.org/drawingml/2006/main">
              <a:ext uri="{FF2B5EF4-FFF2-40B4-BE49-F238E27FC236}">
                <a16:creationId xmlns:a16="http://schemas.microsoft.com/office/drawing/2014/main" id="{ECA3D820-B244-4996-9B9C-773032EE2D21}"/>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web prototype is deployed. Physical device integration remains the next major phase.</a:t>
            </a:r>
          </a:p>
        </p:txBody>
      </p:sp>
      <p:sp>
        <p:nvSpPr>
          <p:cNvPr id="3" name="">
            <a:extLst xmlns:a="http://schemas.openxmlformats.org/drawingml/2006/main">
              <a:ext uri="{FF2B5EF4-FFF2-40B4-BE49-F238E27FC236}">
                <a16:creationId xmlns:a16="http://schemas.microsoft.com/office/drawing/2014/main" id="{ED011AD3-1B10-40B9-9CAF-30BFBFC18588}"/>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2401EB6F-4848-4152-95CB-80D13B813A90}"/>
              </a:ext>
            </a:extLst>
          </p:cNvPr>
          <p:cNvGraphicFramePr/>
          <p:nvPr/>
        </p:nvGraphicFramePr>
        <p:xfrm>
          <a:off xmlns:a="http://schemas.openxmlformats.org/drawingml/2006/main" x="609600" y="2076450"/>
          <a:ext xmlns:a="http://schemas.openxmlformats.org/drawingml/2006/main" cx="10972800" cy="3714750"/>
        </p:xfrm>
        <a:graphic xmlns:a="http://schemas.openxmlformats.org/drawingml/2006/main">
          <a:graphicData uri="http://schemas.openxmlformats.org/drawingml/2006/table">
            <a:tbl>
              <a:tblPr/>
              <a:tblGrid>
                <a:gridCol w="2667000"/>
                <a:gridCol w="3619500"/>
                <a:gridCol w="4686300"/>
              </a:tblGrid>
              <a:tr h="552450">
                <a:tc>
                  <a:txBody>
                    <a:bodyPr/>
                    <a:lstStyle/>
                    <a:p>
                      <a:r>
                        <a:rPr sz="1500" b="1">
                          <a:solidFill>
                            <a:srgbClr val="FFFFFF"/>
                          </a:solidFill>
                          <a:latin typeface="Helvetica Neue"/>
                          <a:ea typeface="Helvetica Neue"/>
                          <a:cs typeface="Helvetica Neue"/>
                        </a:rPr>
                        <a:t>Workstream</a:t>
                      </a:r>
                    </a:p>
                  </a:txBody>
                  <a:tcPr marL="152400" marR="152400" marT="114300" marB="1143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Current status</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Next evidence needed</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632460">
                <a:tc>
                  <a:txBody>
                    <a:bodyPr/>
                    <a:lstStyle/>
                    <a:p>
                      <a:r>
                        <a:rPr sz="1650" b="0">
                          <a:solidFill>
                            <a:srgbClr val="102A35"/>
                          </a:solidFill>
                          <a:latin typeface="Helvetica Neue"/>
                          <a:ea typeface="Helvetica Neue"/>
                          <a:cs typeface="Helvetica Neue"/>
                        </a:rPr>
                        <a:t>Web interface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Deployed on Vercel</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Real user authentication</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Django service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Hosted on Railway</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Confirm deployed OTA configuration</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ESP32 firmware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Three native builds pass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Compatible-board acceptance</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Firmware delivery</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Automation implemented</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Successful tagged cloud run</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Equipment integration</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Pending</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Native sensing and safe control</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bl>
          </a:graphicData>
        </a:graphic>
      </p:graphicFrame>
    </p:spTree>
    <p:extLst>
      <p:ext uri="{BB962C8B-B14F-4D97-AF65-F5344CB8AC3E}">
        <p14:creationId xmlns:p14="http://schemas.microsoft.com/office/powerpoint/2010/main" val="1199218334"/>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E77762-56F8-4D9B-8DC4-638AB73377E3}"/>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Repository architecture</a:t>
            </a:r>
          </a:p>
        </p:txBody>
      </p:sp>
      <p:sp>
        <p:nvSpPr>
          <p:cNvPr id="2" name="">
            <a:extLst xmlns:a="http://schemas.openxmlformats.org/drawingml/2006/main">
              <a:ext uri="{FF2B5EF4-FFF2-40B4-BE49-F238E27FC236}">
                <a16:creationId xmlns:a16="http://schemas.microsoft.com/office/drawing/2014/main" id="{1E40E621-0CA2-4B89-85CA-19091EF15858}"/>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One repository separates the browser application, cloud service and ESP32 applications.</a:t>
            </a:r>
          </a:p>
        </p:txBody>
      </p:sp>
      <p:sp>
        <p:nvSpPr>
          <p:cNvPr id="3" name="">
            <a:extLst xmlns:a="http://schemas.openxmlformats.org/drawingml/2006/main">
              <a:ext uri="{FF2B5EF4-FFF2-40B4-BE49-F238E27FC236}">
                <a16:creationId xmlns:a16="http://schemas.microsoft.com/office/drawing/2014/main" id="{B522D1BC-E8D3-4F6C-B3A9-6E7D16722366}"/>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03</a:t>
            </a:r>
          </a:p>
        </p:txBody>
      </p:sp>
      <p:graphicFrame>
        <p:nvGraphicFramePr>
          <p:cNvPr id="4" name="">
            <a:extLst xmlns:a="http://schemas.openxmlformats.org/drawingml/2006/main">
              <a:ext uri="{FF2B5EF4-FFF2-40B4-BE49-F238E27FC236}">
                <a16:creationId xmlns:a16="http://schemas.microsoft.com/office/drawing/2014/main" id="{05F53EA2-9DA0-468B-9878-C3409BD2DB0F}"/>
              </a:ext>
            </a:extLst>
          </p:cNvPr>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a:tblGrid>
                <a:gridCol w="2667000"/>
                <a:gridCol w="4000500"/>
                <a:gridCol w="4305300"/>
              </a:tblGrid>
              <a:tr h="552450">
                <a:tc>
                  <a:txBody>
                    <a:bodyPr/>
                    <a:lstStyle/>
                    <a:p>
                      <a:r>
                        <a:rPr sz="1500" b="1">
                          <a:solidFill>
                            <a:srgbClr val="FFFFFF"/>
                          </a:solidFill>
                          <a:latin typeface="Helvetica Neue"/>
                          <a:ea typeface="Helvetica Neue"/>
                          <a:cs typeface="Helvetica Neue"/>
                        </a:rPr>
                        <a:t>Layer</a:t>
                      </a:r>
                    </a:p>
                  </a:txBody>
                  <a:tcPr marL="152400" marR="152400" marT="114300" marB="1143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Technology and location</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Responsibility</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731044">
                <a:tc>
                  <a:txBody>
                    <a:bodyPr/>
                    <a:lstStyle/>
                    <a:p>
                      <a:r>
                        <a:rPr sz="1650" b="0">
                          <a:solidFill>
                            <a:srgbClr val="102A35"/>
                          </a:solidFill>
                          <a:latin typeface="Helvetica Neue"/>
                          <a:ea typeface="Helvetica Neue"/>
                          <a:cs typeface="Helvetica Neue"/>
                        </a:rPr>
                        <a:t>Browser interface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React / TypeScript / TanStack</a:t>
                      </a:r>
                    </a:p>
                    <a:p>
                      <a:r>
                        <a:rPr sz="1650" b="0">
                          <a:solidFill>
                            <a:srgbClr val="102A35"/>
                          </a:solidFill>
                          <a:latin typeface="Helvetica Neue"/>
                          <a:ea typeface="Helvetica Neue"/>
                          <a:cs typeface="Helvetica Neue"/>
                        </a:rPr>
                        <a:t>frontend/ on Vercel</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Readings, charts, reports and alerts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Cloud API and storage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Django / DRF / PostgreSQL</a:t>
                      </a:r>
                    </a:p>
                    <a:p>
                      <a:r>
                        <a:rPr sz="1650" b="0">
                          <a:solidFill>
                            <a:srgbClr val="102A35"/>
                          </a:solidFill>
                          <a:latin typeface="Helvetica Neue"/>
                          <a:ea typeface="Helvetica Neue"/>
                          <a:cs typeface="Helvetica Neue"/>
                        </a:rPr>
                        <a:t>backend/ on Railway</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Validation, persistence, live events and admin</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731044">
                <a:tc>
                  <a:txBody>
                    <a:bodyPr/>
                    <a:lstStyle/>
                    <a:p>
                      <a:r>
                        <a:rPr sz="1650" b="0">
                          <a:solidFill>
                            <a:srgbClr val="102A35"/>
                          </a:solidFill>
                          <a:latin typeface="Helvetica Neue"/>
                          <a:ea typeface="Helvetica Neue"/>
                          <a:cs typeface="Helvetica Neue"/>
                        </a:rPr>
                        <a:t>Embedded devices</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ESP-IDF / FreeRTOS</a:t>
                      </a:r>
                    </a:p>
                    <a:p>
                      <a:r>
                        <a:rPr sz="1650" b="0">
                          <a:solidFill>
                            <a:srgbClr val="102A35"/>
                          </a:solidFill>
                          <a:latin typeface="Helvetica Neue"/>
                          <a:ea typeface="Helvetica Neue"/>
                          <a:cs typeface="Helvetica Neue"/>
                        </a:rPr>
                        <a:t>firmware/ on ESP32</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Provisioning and OTA now</a:t>
                      </a:r>
                    </a:p>
                    <a:p>
                      <a:r>
                        <a:rPr sz="1650" b="0">
                          <a:solidFill>
                            <a:srgbClr val="102A35"/>
                          </a:solidFill>
                          <a:latin typeface="Helvetica Neue"/>
                          <a:ea typeface="Helvetica Neue"/>
                          <a:cs typeface="Helvetica Neue"/>
                        </a:rPr>
                        <a:t>Sensing/control integration pending</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Delivery and operations</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GitHub Actions / docs/</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Builds, signed releases, setup and test records</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bl>
          </a:graphicData>
        </a:graphic>
      </p:graphicFrame>
      <p:sp>
        <p:nvSpPr>
          <p:cNvPr id="5" name="">
            <a:extLst xmlns:a="http://schemas.openxmlformats.org/drawingml/2006/main">
              <a:ext uri="{FF2B5EF4-FFF2-40B4-BE49-F238E27FC236}">
                <a16:creationId xmlns:a16="http://schemas.microsoft.com/office/drawing/2014/main" id="{3A9FB728-A5D6-4D73-B4FF-A856CDE0B22C}"/>
              </a:ext>
            </a:extLst>
          </p:cNvPr>
          <p:cNvSpPr>
            <a:spLocks xmlns:a="http://schemas.openxmlformats.org/drawingml/2006/main" noGrp="1"/>
          </p:cNvSpPr>
          <p:nvPr/>
        </p:nvSpPr>
        <p:spPr>
          <a:xfrm xmlns:a="http://schemas.openxmlformats.org/drawingml/2006/main">
            <a:off x="62865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ESP32 telemetry uploads to the cloud remain planned. No Raspberry Pi is required.</a:t>
            </a:r>
          </a:p>
        </p:txBody>
      </p:sp>
    </p:spTree>
    <p:extLst>
      <p:ext uri="{BB962C8B-B14F-4D97-AF65-F5344CB8AC3E}">
        <p14:creationId xmlns:p14="http://schemas.microsoft.com/office/powerpoint/2010/main" val="1657921065"/>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5B2FE1-6535-4B2C-A1FD-48B9F84FDD8B}"/>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Hosted monitoring dashboard</a:t>
            </a:r>
          </a:p>
        </p:txBody>
      </p:sp>
      <p:sp>
        <p:nvSpPr>
          <p:cNvPr id="2" name="">
            <a:extLst xmlns:a="http://schemas.openxmlformats.org/drawingml/2006/main">
              <a:ext uri="{FF2B5EF4-FFF2-40B4-BE49-F238E27FC236}">
                <a16:creationId xmlns:a16="http://schemas.microsoft.com/office/drawing/2014/main" id="{FA384105-94F1-43F2-872C-B5A02CFBC353}"/>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Read-only monitoring is accessible through the Vercel deployment.</a:t>
            </a:r>
          </a:p>
        </p:txBody>
      </p:sp>
      <p:sp>
        <p:nvSpPr>
          <p:cNvPr id="3" name="">
            <a:extLst xmlns:a="http://schemas.openxmlformats.org/drawingml/2006/main">
              <a:ext uri="{FF2B5EF4-FFF2-40B4-BE49-F238E27FC236}">
                <a16:creationId xmlns:a16="http://schemas.microsoft.com/office/drawing/2014/main" id="{7EEB0B02-5391-4FB9-94D8-670F176FA83E}"/>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04</a:t>
            </a:r>
          </a:p>
        </p:txBody>
      </p:sp>
      <p:pic>
        <p:nvPicPr>
          <p:cNvPr id="4" name="">
            <a:extLst xmlns:a="http://schemas.openxmlformats.org/drawingml/2006/main">
              <a:ext uri="{FF2B5EF4-FFF2-40B4-BE49-F238E27FC236}">
                <a16:creationId xmlns:a16="http://schemas.microsoft.com/office/drawing/2014/main" id="{68C120C9-6A8B-43CF-B8C2-ECBA5C813ED2}"/>
              </a:ext>
            </a:extLst>
          </p:cNvPr>
          <p:cNvPicPr>
            <a:picLocks xmlns:a="http://schemas.openxmlformats.org/drawingml/2006/main" noChangeAspect="1"/>
          </p:cNvPicPr>
          <p:nvPr/>
        </p:nvPicPr>
        <p:blipFill>
          <a:blip xmlns:r="http://schemas.openxmlformats.org/officeDocument/2006/relationships" xmlns:a="http://schemas.openxmlformats.org/drawingml/2006/main" r:embed="R9437c7f02d244b16"/>
          <a:stretch xmlns:a="http://schemas.openxmlformats.org/drawingml/2006/main"/>
        </p:blipFill>
        <p:spPr>
          <a:xfrm xmlns:a="http://schemas.openxmlformats.org/drawingml/2006/main">
            <a:off x="610658" y="2095500"/>
            <a:ext cx="8094133" cy="4552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8312D9-E7DE-4327-A5CB-FFC8669D07DD}"/>
              </a:ext>
            </a:extLst>
          </p:cNvPr>
          <p:cNvSpPr>
            <a:spLocks xmlns:a="http://schemas.openxmlformats.org/drawingml/2006/main" noGrp="1"/>
          </p:cNvSpPr>
          <p:nvPr/>
        </p:nvSpPr>
        <p:spPr>
          <a:xfrm xmlns:a="http://schemas.openxmlformats.org/drawingml/2006/main">
            <a:off x="9048750" y="2152650"/>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F76"/>
                </a:solidFill>
                <a:latin typeface="Helvetica Neue"/>
                <a:ea typeface="Helvetica Neue"/>
                <a:cs typeface="Helvetica Neue"/>
              </a:defRPr>
            </a:defPPr>
          </a:lstStyle>
          <a:p xmlns:a="http://schemas.openxmlformats.org/drawingml/2006/main">
            <a:pPr>
              <a:defRPr sz="2100" b="1">
                <a:solidFill>
                  <a:srgbClr val="007F76"/>
                </a:solidFill>
                <a:latin typeface="Helvetica Neue"/>
                <a:ea typeface="Helvetica Neue"/>
                <a:cs typeface="Helvetica Neue"/>
              </a:defRPr>
            </a:pPr>
            <a:r>
              <a:rPr sz="2100" b="1">
                <a:solidFill>
                  <a:srgbClr val="007F76"/>
                </a:solidFill>
                <a:latin typeface="Helvetica Neue"/>
                <a:ea typeface="Helvetica Neue"/>
                <a:cs typeface="Helvetica Neue"/>
              </a:rPr>
              <a:t>Observed online</a:t>
            </a:r>
          </a:p>
        </p:txBody>
      </p:sp>
      <p:sp>
        <p:nvSpPr>
          <p:cNvPr id="6" name="">
            <a:extLst xmlns:a="http://schemas.openxmlformats.org/drawingml/2006/main">
              <a:ext uri="{FF2B5EF4-FFF2-40B4-BE49-F238E27FC236}">
                <a16:creationId xmlns:a16="http://schemas.microsoft.com/office/drawing/2014/main" id="{A80E9916-22C1-4580-8B8A-4BFE9007901D}"/>
              </a:ext>
            </a:extLst>
          </p:cNvPr>
          <p:cNvSpPr>
            <a:spLocks xmlns:a="http://schemas.openxmlformats.org/drawingml/2006/main" noGrp="1"/>
          </p:cNvSpPr>
          <p:nvPr/>
        </p:nvSpPr>
        <p:spPr>
          <a:xfrm xmlns:a="http://schemas.openxmlformats.org/drawingml/2006/main">
            <a:off x="9048750" y="2781300"/>
            <a:ext cx="2476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02A35"/>
                </a:solidFill>
                <a:latin typeface="Helvetica Neue"/>
                <a:ea typeface="Helvetica Neue"/>
                <a:cs typeface="Helvetica Neue"/>
              </a:defRPr>
            </a:defPPr>
          </a:lstStyle>
          <a:p xmlns:a="http://schemas.openxmlformats.org/drawingml/2006/main">
            <a:pPr>
              <a:defRPr sz="1800" b="0">
                <a:solidFill>
                  <a:srgbClr val="102A35"/>
                </a:solidFill>
                <a:latin typeface="Helvetica Neue"/>
                <a:ea typeface="Helvetica Neue"/>
                <a:cs typeface="Helvetica Neue"/>
              </a:defRPr>
            </a:pPr>
            <a:r>
              <a:rPr sz="1800" b="0">
                <a:solidFill>
                  <a:srgbClr val="102A35"/>
                </a:solidFill>
                <a:latin typeface="Helvetica Neue"/>
                <a:ea typeface="Helvetica Neue"/>
                <a:cs typeface="Helvetica Neue"/>
              </a:rPr>
              <a:t>Backend connected</a:t>
            </a:r>
          </a:p>
          <a:p xmlns:a="http://schemas.openxmlformats.org/drawingml/2006/main">
            <a:r>
              <a:t/>
            </a:r>
          </a:p>
          <a:p xmlns:a="http://schemas.openxmlformats.org/drawingml/2006/main">
            <a:pPr>
              <a:defRPr sz="1800" b="0">
                <a:solidFill>
                  <a:srgbClr val="102A35"/>
                </a:solidFill>
                <a:latin typeface="Helvetica Neue"/>
                <a:ea typeface="Helvetica Neue"/>
                <a:cs typeface="Helvetica Neue"/>
              </a:defRPr>
            </a:pPr>
            <a:r>
              <a:rPr sz="1800" b="0">
                <a:solidFill>
                  <a:srgbClr val="102A35"/>
                </a:solidFill>
                <a:latin typeface="Helvetica Neue"/>
                <a:ea typeface="Helvetica Neue"/>
                <a:cs typeface="Helvetica Neue"/>
              </a:rPr>
              <a:t>Charts and status display</a:t>
            </a:r>
          </a:p>
          <a:p xmlns:a="http://schemas.openxmlformats.org/drawingml/2006/main">
            <a:r>
              <a:t/>
            </a:r>
          </a:p>
          <a:p xmlns:a="http://schemas.openxmlformats.org/drawingml/2006/main">
            <a:pPr>
              <a:defRPr sz="1800" b="0">
                <a:solidFill>
                  <a:srgbClr val="102A35"/>
                </a:solidFill>
                <a:latin typeface="Helvetica Neue"/>
                <a:ea typeface="Helvetica Neue"/>
                <a:cs typeface="Helvetica Neue"/>
              </a:defRPr>
            </a:pPr>
            <a:r>
              <a:rPr sz="1800" b="0">
                <a:solidFill>
                  <a:srgbClr val="102A35"/>
                </a:solidFill>
                <a:latin typeface="Helvetica Neue"/>
                <a:ea typeface="Helvetica Neue"/>
                <a:cs typeface="Helvetica Neue"/>
              </a:rPr>
              <a:t>Stale and missing data remain explicit</a:t>
            </a:r>
          </a:p>
        </p:txBody>
      </p:sp>
      <p:sp>
        <p:nvSpPr>
          <p:cNvPr id="7" name="">
            <a:extLst xmlns:a="http://schemas.openxmlformats.org/drawingml/2006/main">
              <a:ext uri="{FF2B5EF4-FFF2-40B4-BE49-F238E27FC236}">
                <a16:creationId xmlns:a16="http://schemas.microsoft.com/office/drawing/2014/main" id="{253415B8-2518-4E74-9D34-825E47C59E8A}"/>
              </a:ext>
            </a:extLst>
          </p:cNvPr>
          <p:cNvSpPr>
            <a:spLocks xmlns:a="http://schemas.openxmlformats.org/drawingml/2006/main" noGrp="1"/>
          </p:cNvSpPr>
          <p:nvPr/>
        </p:nvSpPr>
        <p:spPr>
          <a:xfrm xmlns:a="http://schemas.openxmlformats.org/drawingml/2006/main">
            <a:off x="9048750" y="5286375"/>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9B5700"/>
                </a:solidFill>
                <a:latin typeface="Helvetica Neue"/>
                <a:ea typeface="Helvetica Neue"/>
                <a:cs typeface="Helvetica Neue"/>
              </a:defRPr>
            </a:defPPr>
          </a:lstStyle>
          <a:p xmlns:a="http://schemas.openxmlformats.org/drawingml/2006/main">
            <a:pPr>
              <a:defRPr sz="1650" b="0">
                <a:solidFill>
                  <a:srgbClr val="9B5700"/>
                </a:solidFill>
                <a:latin typeface="Helvetica Neue"/>
                <a:ea typeface="Helvetica Neue"/>
                <a:cs typeface="Helvetica Neue"/>
              </a:defRPr>
            </a:pPr>
            <a:r>
              <a:rPr sz="1650" b="0">
                <a:solidFill>
                  <a:srgbClr val="9B5700"/>
                </a:solidFill>
                <a:latin typeface="Helvetica Neue"/>
                <a:ea typeface="Helvetica Neue"/>
                <a:cs typeface="Helvetica Neue"/>
              </a:rPr>
              <a:t>Mock sign-in</a:t>
            </a:r>
          </a:p>
          <a:p xmlns:a="http://schemas.openxmlformats.org/drawingml/2006/main">
            <a:pPr>
              <a:defRPr sz="1650" b="0">
                <a:solidFill>
                  <a:srgbClr val="9B5700"/>
                </a:solidFill>
                <a:latin typeface="Helvetica Neue"/>
                <a:ea typeface="Helvetica Neue"/>
                <a:cs typeface="Helvetica Neue"/>
              </a:defRPr>
            </a:pPr>
            <a:r>
              <a:rPr sz="1650" b="0">
                <a:solidFill>
                  <a:srgbClr val="9B5700"/>
                </a:solidFill>
                <a:latin typeface="Helvetica Neue"/>
                <a:ea typeface="Helvetica Neue"/>
                <a:cs typeface="Helvetica Neue"/>
              </a:rPr>
              <a:t>Equipment control unavailable</a:t>
            </a:r>
          </a:p>
        </p:txBody>
      </p:sp>
    </p:spTree>
    <p:extLst>
      <p:ext uri="{BB962C8B-B14F-4D97-AF65-F5344CB8AC3E}">
        <p14:creationId xmlns:p14="http://schemas.microsoft.com/office/powerpoint/2010/main" val="432266360"/>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4A9462-1817-48C8-B674-DB231C95C038}"/>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Django backend progress</a:t>
            </a:r>
          </a:p>
        </p:txBody>
      </p:sp>
      <p:sp>
        <p:nvSpPr>
          <p:cNvPr id="2" name="">
            <a:extLst xmlns:a="http://schemas.openxmlformats.org/drawingml/2006/main">
              <a:ext uri="{FF2B5EF4-FFF2-40B4-BE49-F238E27FC236}">
                <a16:creationId xmlns:a16="http://schemas.microsoft.com/office/drawing/2014/main" id="{05034EB4-6227-42E1-9F78-91DC3C06F984}"/>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Railway hosts the API and administration service.</a:t>
            </a:r>
          </a:p>
        </p:txBody>
      </p:sp>
      <p:sp>
        <p:nvSpPr>
          <p:cNvPr id="3" name="">
            <a:extLst xmlns:a="http://schemas.openxmlformats.org/drawingml/2006/main">
              <a:ext uri="{FF2B5EF4-FFF2-40B4-BE49-F238E27FC236}">
                <a16:creationId xmlns:a16="http://schemas.microsoft.com/office/drawing/2014/main" id="{8ABC18F3-7B21-4421-B2CF-C0924D8311D4}"/>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05</a:t>
            </a:r>
          </a:p>
        </p:txBody>
      </p:sp>
      <p:graphicFrame>
        <p:nvGraphicFramePr>
          <p:cNvPr id="4" name="">
            <a:extLst xmlns:a="http://schemas.openxmlformats.org/drawingml/2006/main">
              <a:ext uri="{FF2B5EF4-FFF2-40B4-BE49-F238E27FC236}">
                <a16:creationId xmlns:a16="http://schemas.microsoft.com/office/drawing/2014/main" id="{CFBE17D3-562C-42B6-9391-59B775C011A3}"/>
              </a:ext>
            </a:extLst>
          </p:cNvPr>
          <p:cNvGraphicFramePr/>
          <p:nvPr/>
        </p:nvGraphicFramePr>
        <p:xfrm>
          <a:off xmlns:a="http://schemas.openxmlformats.org/drawingml/2006/main" x="609600" y="2076450"/>
          <a:ext xmlns:a="http://schemas.openxmlformats.org/drawingml/2006/main" cx="10972800" cy="3714750"/>
        </p:xfrm>
        <a:graphic xmlns:a="http://schemas.openxmlformats.org/drawingml/2006/main">
          <a:graphicData uri="http://schemas.openxmlformats.org/drawingml/2006/table">
            <a:tbl>
              <a:tblPr/>
              <a:tblGrid>
                <a:gridCol w="3238500"/>
                <a:gridCol w="7734300"/>
              </a:tblGrid>
              <a:tr h="552450">
                <a:tc>
                  <a:txBody>
                    <a:bodyPr/>
                    <a:lstStyle/>
                    <a:p>
                      <a:r>
                        <a:rPr sz="1500" b="1">
                          <a:solidFill>
                            <a:srgbClr val="FFFFFF"/>
                          </a:solidFill>
                          <a:latin typeface="Helvetica Neue"/>
                          <a:ea typeface="Helvetica Neue"/>
                          <a:cs typeface="Helvetica Neue"/>
                        </a:rPr>
                        <a:t>Capability</a:t>
                      </a:r>
                    </a:p>
                  </a:txBody>
                  <a:tcPr marL="152400" marR="152400" marT="114300" marB="1143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Implemented behavior</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632460">
                <a:tc>
                  <a:txBody>
                    <a:bodyPr/>
                    <a:lstStyle/>
                    <a:p>
                      <a:r>
                        <a:rPr sz="1650" b="0">
                          <a:solidFill>
                            <a:srgbClr val="102A35"/>
                          </a:solidFill>
                          <a:latin typeface="Helvetica Neue"/>
                          <a:ea typeface="Helvetica Neue"/>
                          <a:cs typeface="Helvetica Neue"/>
                        </a:rPr>
                        <a:t>Telemetry ingestion</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Bearer-key access, finite values and sensor bounds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Stored readings</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Message deduplication and measurement-time ordering</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History and reports</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Filtered readings, aggregates, chart series and CSV</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Realtime status</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Socket.IO updates and persisted reconnect state</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OTA administration</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Device credentials, signed releases and audited approval</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151B04-76AC-4B6D-B84B-79AB412B1A4A}"/>
              </a:ext>
            </a:extLst>
          </p:cNvPr>
          <p:cNvSpPr>
            <a:spLocks xmlns:a="http://schemas.openxmlformats.org/drawingml/2006/main" noGrp="1"/>
          </p:cNvSpPr>
          <p:nvPr/>
        </p:nvSpPr>
        <p:spPr>
          <a:xfrm xmlns:a="http://schemas.openxmlformats.org/drawingml/2006/main">
            <a:off x="62865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The current public demo and mock browser login do not provide private operator access.</a:t>
            </a:r>
          </a:p>
        </p:txBody>
      </p:sp>
    </p:spTree>
    <p:extLst>
      <p:ext uri="{BB962C8B-B14F-4D97-AF65-F5344CB8AC3E}">
        <p14:creationId xmlns:p14="http://schemas.microsoft.com/office/powerpoint/2010/main" val="605132989"/>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7002EC-3943-4FD7-B9D2-410E41359C48}"/>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ESP32 firmware progress</a:t>
            </a:r>
          </a:p>
        </p:txBody>
      </p:sp>
      <p:sp>
        <p:nvSpPr>
          <p:cNvPr id="2" name="">
            <a:extLst xmlns:a="http://schemas.openxmlformats.org/drawingml/2006/main">
              <a:ext uri="{FF2B5EF4-FFF2-40B4-BE49-F238E27FC236}">
                <a16:creationId xmlns:a16="http://schemas.microsoft.com/office/drawing/2014/main" id="{5F0FFABB-475F-4FF2-9268-2BCD3FC7EE57}"/>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Shared ESP-IDF infrastructure produces three distinct application images.</a:t>
            </a:r>
          </a:p>
        </p:txBody>
      </p:sp>
      <p:sp>
        <p:nvSpPr>
          <p:cNvPr id="3" name="">
            <a:extLst xmlns:a="http://schemas.openxmlformats.org/drawingml/2006/main">
              <a:ext uri="{FF2B5EF4-FFF2-40B4-BE49-F238E27FC236}">
                <a16:creationId xmlns:a16="http://schemas.microsoft.com/office/drawing/2014/main" id="{B0A7D436-45F8-4A04-8137-F14297938247}"/>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06</a:t>
            </a:r>
          </a:p>
        </p:txBody>
      </p:sp>
      <p:graphicFrame>
        <p:nvGraphicFramePr>
          <p:cNvPr id="4" name="">
            <a:extLst xmlns:a="http://schemas.openxmlformats.org/drawingml/2006/main">
              <a:ext uri="{FF2B5EF4-FFF2-40B4-BE49-F238E27FC236}">
                <a16:creationId xmlns:a16="http://schemas.microsoft.com/office/drawing/2014/main" id="{4036A18D-1FBD-4AA6-B083-9CF7211B0B83}"/>
              </a:ext>
            </a:extLst>
          </p:cNvPr>
          <p:cNvGraphicFramePr/>
          <p:nvPr/>
        </p:nvGraphicFramePr>
        <p:xfrm>
          <a:off xmlns:a="http://schemas.openxmlformats.org/drawingml/2006/main" x="609600" y="2076450"/>
          <a:ext xmlns:a="http://schemas.openxmlformats.org/drawingml/2006/main" cx="10972800" cy="3000375"/>
        </p:xfrm>
        <a:graphic xmlns:a="http://schemas.openxmlformats.org/drawingml/2006/main">
          <a:graphicData uri="http://schemas.openxmlformats.org/drawingml/2006/table">
            <a:tbl>
              <a:tblPr/>
              <a:tblGrid>
                <a:gridCol w="2381250"/>
                <a:gridCol w="4000500"/>
                <a:gridCol w="4591050"/>
              </a:tblGrid>
              <a:tr h="552450">
                <a:tc>
                  <a:txBody>
                    <a:bodyPr/>
                    <a:lstStyle/>
                    <a:p>
                      <a:r>
                        <a:rPr sz="1500" b="1">
                          <a:solidFill>
                            <a:srgbClr val="FFFFFF"/>
                          </a:solidFill>
                          <a:latin typeface="Helvetica Neue"/>
                          <a:ea typeface="Helvetica Neue"/>
                          <a:cs typeface="Helvetica Neue"/>
                        </a:rPr>
                        <a:t>Image</a:t>
                      </a:r>
                    </a:p>
                  </a:txBody>
                  <a:tcPr marL="152400" marR="152400" marT="114300" marB="1143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Current scope</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Application work remaining</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815975">
                <a:tc>
                  <a:txBody>
                    <a:bodyPr/>
                    <a:lstStyle/>
                    <a:p>
                      <a:r>
                        <a:rPr sz="1650" b="0">
                          <a:solidFill>
                            <a:srgbClr val="102A35"/>
                          </a:solidFill>
                          <a:latin typeface="Helvetica Neue"/>
                          <a:ea typeface="Helvetica Neue"/>
                          <a:cs typeface="Helvetica Neue"/>
                        </a:rPr>
                        <a:t>inlet.bin</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Provisioning, Wi-Fi, status and OTA</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Native inlet sensor drivers and uploads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815975">
                <a:tc>
                  <a:txBody>
                    <a:bodyPr/>
                    <a:lstStyle/>
                    <a:p>
                      <a:r>
                        <a:rPr sz="1650" b="0">
                          <a:solidFill>
                            <a:srgbClr val="102A35"/>
                          </a:solidFill>
                          <a:latin typeface="Helvetica Neue"/>
                          <a:ea typeface="Helvetica Neue"/>
                          <a:cs typeface="Helvetica Neue"/>
                        </a:rPr>
                        <a:t>outlet.bin</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Provisioning, Wi-Fi, status and OTA</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Native outlet sensor drivers and uploads</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815975">
                <a:tc>
                  <a:txBody>
                    <a:bodyPr/>
                    <a:lstStyle/>
                    <a:p>
                      <a:r>
                        <a:rPr sz="1650" b="0">
                          <a:solidFill>
                            <a:srgbClr val="102A35"/>
                          </a:solidFill>
                          <a:latin typeface="Helvetica Neue"/>
                          <a:ea typeface="Helvetica Neue"/>
                          <a:cs typeface="Helvetica Neue"/>
                        </a:rPr>
                        <a:t>control.bin</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Maintenance outputs, status and OTA</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Operating cycle, feedback and interlocks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C464E2-5E39-4270-B0BC-4493ED5F31BA}"/>
              </a:ext>
            </a:extLst>
          </p:cNvPr>
          <p:cNvSpPr>
            <a:spLocks xmlns:a="http://schemas.openxmlformats.org/drawingml/2006/main" noGrp="1"/>
          </p:cNvSpPr>
          <p:nvPr/>
        </p:nvSpPr>
        <p:spPr>
          <a:xfrm xmlns:a="http://schemas.openxmlformats.org/drawingml/2006/main">
            <a:off x="638175" y="542925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007F76"/>
                </a:solidFill>
                <a:latin typeface="Helvetica Neue"/>
                <a:ea typeface="Helvetica Neue"/>
                <a:cs typeface="Helvetica Neue"/>
              </a:defRPr>
            </a:defPPr>
          </a:lstStyle>
          <a:p xmlns:a="http://schemas.openxmlformats.org/drawingml/2006/main">
            <a:pPr>
              <a:defRPr sz="1950" b="1">
                <a:solidFill>
                  <a:srgbClr val="007F76"/>
                </a:solidFill>
                <a:latin typeface="Helvetica Neue"/>
                <a:ea typeface="Helvetica Neue"/>
                <a:cs typeface="Helvetica Neue"/>
              </a:defRPr>
            </a:pPr>
            <a:r>
              <a:rPr sz="1950" b="1">
                <a:solidFill>
                  <a:srgbClr val="007F76"/>
                </a:solidFill>
                <a:latin typeface="Helvetica Neue"/>
                <a:ea typeface="Helvetica Neue"/>
                <a:cs typeface="Helvetica Neue"/>
              </a:rPr>
              <a:t>Shared code</a:t>
            </a:r>
          </a:p>
        </p:txBody>
      </p:sp>
      <p:sp>
        <p:nvSpPr>
          <p:cNvPr id="6" name="">
            <a:extLst xmlns:a="http://schemas.openxmlformats.org/drawingml/2006/main">
              <a:ext uri="{FF2B5EF4-FFF2-40B4-BE49-F238E27FC236}">
                <a16:creationId xmlns:a16="http://schemas.microsoft.com/office/drawing/2014/main" id="{827964B0-FF01-440D-9430-6A50BE133ECF}"/>
              </a:ext>
            </a:extLst>
          </p:cNvPr>
          <p:cNvSpPr>
            <a:spLocks xmlns:a="http://schemas.openxmlformats.org/drawingml/2006/main" noGrp="1"/>
          </p:cNvSpPr>
          <p:nvPr/>
        </p:nvSpPr>
        <p:spPr>
          <a:xfrm xmlns:a="http://schemas.openxmlformats.org/drawingml/2006/main">
            <a:off x="2952750" y="5429250"/>
            <a:ext cx="8362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02A35"/>
                </a:solidFill>
                <a:latin typeface="Helvetica Neue"/>
                <a:ea typeface="Helvetica Neue"/>
                <a:cs typeface="Helvetica Neue"/>
              </a:defRPr>
            </a:defPPr>
          </a:lstStyle>
          <a:p xmlns:a="http://schemas.openxmlformats.org/drawingml/2006/main">
            <a:pPr>
              <a:defRPr sz="1950" b="0">
                <a:solidFill>
                  <a:srgbClr val="102A35"/>
                </a:solidFill>
                <a:latin typeface="Helvetica Neue"/>
                <a:ea typeface="Helvetica Neue"/>
                <a:cs typeface="Helvetica Neue"/>
              </a:defRPr>
            </a:pPr>
            <a:r>
              <a:rPr sz="1950" b="0">
                <a:solidFill>
                  <a:srgbClr val="102A35"/>
                </a:solidFill>
                <a:latin typeface="Helvetica Neue"/>
                <a:ea typeface="Helvetica Neue"/>
                <a:cs typeface="Helvetica Neue"/>
              </a:rPr>
              <a:t>One OTA implementation serves many uniquely provisioned boards.</a:t>
            </a:r>
          </a:p>
        </p:txBody>
      </p:sp>
    </p:spTree>
    <p:extLst>
      <p:ext uri="{BB962C8B-B14F-4D97-AF65-F5344CB8AC3E}">
        <p14:creationId xmlns:p14="http://schemas.microsoft.com/office/powerpoint/2010/main" val="1261259245"/>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091652F-217C-4D7F-8C20-878C1A53FC96}"/>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Firmware release and OTA workflow</a:t>
            </a:r>
          </a:p>
        </p:txBody>
      </p:sp>
      <p:sp>
        <p:nvSpPr>
          <p:cNvPr id="2" name="">
            <a:extLst xmlns:a="http://schemas.openxmlformats.org/drawingml/2006/main">
              <a:ext uri="{FF2B5EF4-FFF2-40B4-BE49-F238E27FC236}">
                <a16:creationId xmlns:a16="http://schemas.microsoft.com/office/drawing/2014/main" id="{0254712D-5B22-415C-A1FE-F5DC5F12ECC3}"/>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Release publication and device installation have separate approval steps.</a:t>
            </a:r>
          </a:p>
        </p:txBody>
      </p:sp>
      <p:sp>
        <p:nvSpPr>
          <p:cNvPr id="3" name="">
            <a:extLst xmlns:a="http://schemas.openxmlformats.org/drawingml/2006/main">
              <a:ext uri="{FF2B5EF4-FFF2-40B4-BE49-F238E27FC236}">
                <a16:creationId xmlns:a16="http://schemas.microsoft.com/office/drawing/2014/main" id="{69D50ECC-907E-4F89-B44B-7B69B110EDEF}"/>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AC5BAC35-F606-45D1-95FC-310BE432C483}"/>
              </a:ext>
            </a:extLst>
          </p:cNvPr>
          <p:cNvSpPr>
            <a:spLocks xmlns:a="http://schemas.openxmlformats.org/drawingml/2006/main" noGrp="1"/>
          </p:cNvSpPr>
          <p:nvPr/>
        </p:nvSpPr>
        <p:spPr>
          <a:xfrm xmlns:a="http://schemas.openxmlformats.org/drawingml/2006/main">
            <a:off x="619125" y="19812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8B600A64-90B7-4801-A2CA-FA0A5908109D}"/>
              </a:ext>
            </a:extLst>
          </p:cNvPr>
          <p:cNvSpPr>
            <a:spLocks xmlns:a="http://schemas.openxmlformats.org/drawingml/2006/main" noGrp="1"/>
          </p:cNvSpPr>
          <p:nvPr/>
        </p:nvSpPr>
        <p:spPr>
          <a:xfrm xmlns:a="http://schemas.openxmlformats.org/drawingml/2006/main">
            <a:off x="1476375" y="198120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Source review and version tag</a:t>
            </a:r>
          </a:p>
        </p:txBody>
      </p:sp>
      <p:sp>
        <p:nvSpPr>
          <p:cNvPr id="6" name="">
            <a:extLst xmlns:a="http://schemas.openxmlformats.org/drawingml/2006/main">
              <a:ext uri="{FF2B5EF4-FFF2-40B4-BE49-F238E27FC236}">
                <a16:creationId xmlns:a16="http://schemas.microsoft.com/office/drawing/2014/main" id="{507A9009-1CA8-4690-A2F3-ED08A2D1C3D9}"/>
              </a:ext>
            </a:extLst>
          </p:cNvPr>
          <p:cNvSpPr>
            <a:spLocks xmlns:a="http://schemas.openxmlformats.org/drawingml/2006/main" noGrp="1"/>
          </p:cNvSpPr>
          <p:nvPr/>
        </p:nvSpPr>
        <p:spPr>
          <a:xfrm xmlns:a="http://schemas.openxmlformats.org/drawingml/2006/main">
            <a:off x="1476375" y="240030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Firmware changes run CI. A firmware-vX.Y.Z tag selects the release commit.</a:t>
            </a:r>
          </a:p>
        </p:txBody>
      </p:sp>
      <p:sp>
        <p:nvSpPr>
          <p:cNvPr id="7" name="">
            <a:extLst xmlns:a="http://schemas.openxmlformats.org/drawingml/2006/main">
              <a:ext uri="{FF2B5EF4-FFF2-40B4-BE49-F238E27FC236}">
                <a16:creationId xmlns:a16="http://schemas.microsoft.com/office/drawing/2014/main" id="{43AE0D60-A573-4722-8BEC-831C267DA378}"/>
              </a:ext>
            </a:extLst>
          </p:cNvPr>
          <p:cNvSpPr>
            <a:spLocks xmlns:a="http://schemas.openxmlformats.org/drawingml/2006/main" noGrp="1"/>
          </p:cNvSpPr>
          <p:nvPr/>
        </p:nvSpPr>
        <p:spPr>
          <a:xfrm xmlns:a="http://schemas.openxmlformats.org/drawingml/2006/main">
            <a:off x="619125" y="30099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895A512-6BA1-4F8A-86EF-611735D9E84B}"/>
              </a:ext>
            </a:extLst>
          </p:cNvPr>
          <p:cNvSpPr>
            <a:spLocks xmlns:a="http://schemas.openxmlformats.org/drawingml/2006/main" noGrp="1"/>
          </p:cNvSpPr>
          <p:nvPr/>
        </p:nvSpPr>
        <p:spPr>
          <a:xfrm xmlns:a="http://schemas.openxmlformats.org/drawingml/2006/main">
            <a:off x="1476375" y="300990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Build, sign and publish</a:t>
            </a:r>
          </a:p>
        </p:txBody>
      </p:sp>
      <p:sp>
        <p:nvSpPr>
          <p:cNvPr id="9" name="">
            <a:extLst xmlns:a="http://schemas.openxmlformats.org/drawingml/2006/main">
              <a:ext uri="{FF2B5EF4-FFF2-40B4-BE49-F238E27FC236}">
                <a16:creationId xmlns:a16="http://schemas.microsoft.com/office/drawing/2014/main" id="{8F525B7C-1FDE-41FC-BD5D-2A680E513286}"/>
              </a:ext>
            </a:extLst>
          </p:cNvPr>
          <p:cNvSpPr>
            <a:spLocks xmlns:a="http://schemas.openxmlformats.org/drawingml/2006/main" noGrp="1"/>
          </p:cNvSpPr>
          <p:nvPr/>
        </p:nvSpPr>
        <p:spPr>
          <a:xfrm xmlns:a="http://schemas.openxmlformats.org/drawingml/2006/main">
            <a:off x="1476375" y="342900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GitHub builds the three images and publishes signed manifests and binaries.</a:t>
            </a:r>
          </a:p>
        </p:txBody>
      </p:sp>
      <p:sp>
        <p:nvSpPr>
          <p:cNvPr id="10" name="">
            <a:extLst xmlns:a="http://schemas.openxmlformats.org/drawingml/2006/main">
              <a:ext uri="{FF2B5EF4-FFF2-40B4-BE49-F238E27FC236}">
                <a16:creationId xmlns:a16="http://schemas.microsoft.com/office/drawing/2014/main" id="{BC5B3F32-3ED8-421F-BA37-0241928001ED}"/>
              </a:ext>
            </a:extLst>
          </p:cNvPr>
          <p:cNvSpPr>
            <a:spLocks xmlns:a="http://schemas.openxmlformats.org/drawingml/2006/main" noGrp="1"/>
          </p:cNvSpPr>
          <p:nvPr/>
        </p:nvSpPr>
        <p:spPr>
          <a:xfrm xmlns:a="http://schemas.openxmlformats.org/drawingml/2006/main">
            <a:off x="619125" y="40386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FD7EDC8C-E68E-4B6A-B9E5-B744B9A5B14D}"/>
              </a:ext>
            </a:extLst>
          </p:cNvPr>
          <p:cNvSpPr>
            <a:spLocks xmlns:a="http://schemas.openxmlformats.org/drawingml/2006/main" noGrp="1"/>
          </p:cNvSpPr>
          <p:nvPr/>
        </p:nvSpPr>
        <p:spPr>
          <a:xfrm xmlns:a="http://schemas.openxmlformats.org/drawingml/2006/main">
            <a:off x="1476375" y="403860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Verify and register</a:t>
            </a:r>
          </a:p>
        </p:txBody>
      </p:sp>
      <p:sp>
        <p:nvSpPr>
          <p:cNvPr id="12" name="">
            <a:extLst xmlns:a="http://schemas.openxmlformats.org/drawingml/2006/main">
              <a:ext uri="{FF2B5EF4-FFF2-40B4-BE49-F238E27FC236}">
                <a16:creationId xmlns:a16="http://schemas.microsoft.com/office/drawing/2014/main" id="{27F4DCC8-187E-4626-A244-FEC89A7E2C06}"/>
              </a:ext>
            </a:extLst>
          </p:cNvPr>
          <p:cNvSpPr>
            <a:spLocks xmlns:a="http://schemas.openxmlformats.org/drawingml/2006/main" noGrp="1"/>
          </p:cNvSpPr>
          <p:nvPr/>
        </p:nvSpPr>
        <p:spPr>
          <a:xfrm xmlns:a="http://schemas.openxmlformats.org/drawingml/2006/main">
            <a:off x="1476375" y="445770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delivery job checks published assets and registers disabled Django records.</a:t>
            </a:r>
          </a:p>
        </p:txBody>
      </p:sp>
      <p:sp>
        <p:nvSpPr>
          <p:cNvPr id="13" name="">
            <a:extLst xmlns:a="http://schemas.openxmlformats.org/drawingml/2006/main">
              <a:ext uri="{FF2B5EF4-FFF2-40B4-BE49-F238E27FC236}">
                <a16:creationId xmlns:a16="http://schemas.microsoft.com/office/drawing/2014/main" id="{BD803017-0723-42A4-9DC0-EB3A61ECB0AC}"/>
              </a:ext>
            </a:extLst>
          </p:cNvPr>
          <p:cNvSpPr>
            <a:spLocks xmlns:a="http://schemas.openxmlformats.org/drawingml/2006/main" noGrp="1"/>
          </p:cNvSpPr>
          <p:nvPr/>
        </p:nvSpPr>
        <p:spPr>
          <a:xfrm xmlns:a="http://schemas.openxmlformats.org/drawingml/2006/main">
            <a:off x="619125" y="50673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4BD371FE-1690-446C-A381-EF9D8EE47FD1}"/>
              </a:ext>
            </a:extLst>
          </p:cNvPr>
          <p:cNvSpPr>
            <a:spLocks xmlns:a="http://schemas.openxmlformats.org/drawingml/2006/main" noGrp="1"/>
          </p:cNvSpPr>
          <p:nvPr/>
        </p:nvSpPr>
        <p:spPr>
          <a:xfrm xmlns:a="http://schemas.openxmlformats.org/drawingml/2006/main">
            <a:off x="1476375" y="506730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Approve and install</a:t>
            </a:r>
          </a:p>
        </p:txBody>
      </p:sp>
      <p:sp>
        <p:nvSpPr>
          <p:cNvPr id="15" name="">
            <a:extLst xmlns:a="http://schemas.openxmlformats.org/drawingml/2006/main">
              <a:ext uri="{FF2B5EF4-FFF2-40B4-BE49-F238E27FC236}">
                <a16:creationId xmlns:a16="http://schemas.microsoft.com/office/drawing/2014/main" id="{D865DCF7-B614-4595-8E93-09AD733AD1EE}"/>
              </a:ext>
            </a:extLst>
          </p:cNvPr>
          <p:cNvSpPr>
            <a:spLocks xmlns:a="http://schemas.openxmlformats.org/drawingml/2006/main" noGrp="1"/>
          </p:cNvSpPr>
          <p:nvPr/>
        </p:nvSpPr>
        <p:spPr>
          <a:xfrm xmlns:a="http://schemas.openxmlformats.org/drawingml/2006/main">
            <a:off x="1476375" y="548640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Staff assigns a device. The ESP32 verifies, installs and checks its next boot.</a:t>
            </a:r>
          </a:p>
        </p:txBody>
      </p:sp>
    </p:spTree>
    <p:extLst>
      <p:ext uri="{BB962C8B-B14F-4D97-AF65-F5344CB8AC3E}">
        <p14:creationId xmlns:p14="http://schemas.microsoft.com/office/powerpoint/2010/main" val="577834138"/>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D427B2-E1BA-4FD8-A7AC-76B82F635373}"/>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Software verification</a:t>
            </a:r>
          </a:p>
        </p:txBody>
      </p:sp>
      <p:sp>
        <p:nvSpPr>
          <p:cNvPr id="2" name="">
            <a:extLst xmlns:a="http://schemas.openxmlformats.org/drawingml/2006/main">
              <a:ext uri="{FF2B5EF4-FFF2-40B4-BE49-F238E27FC236}">
                <a16:creationId xmlns:a16="http://schemas.microsoft.com/office/drawing/2014/main" id="{AD888E32-9F0B-4EA7-9860-451F920CA116}"/>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Passing software checks provide a baseline for the next integration tests.</a:t>
            </a:r>
          </a:p>
        </p:txBody>
      </p:sp>
      <p:sp>
        <p:nvSpPr>
          <p:cNvPr id="3" name="">
            <a:extLst xmlns:a="http://schemas.openxmlformats.org/drawingml/2006/main">
              <a:ext uri="{FF2B5EF4-FFF2-40B4-BE49-F238E27FC236}">
                <a16:creationId xmlns:a16="http://schemas.microsoft.com/office/drawing/2014/main" id="{BC9A0B0C-9797-4854-87F7-D1C0DC287A9A}"/>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BE8244C7-442A-432A-8A0C-D68E43197D62}"/>
              </a:ext>
            </a:extLst>
          </p:cNvPr>
          <p:cNvSpPr>
            <a:spLocks xmlns:a="http://schemas.openxmlformats.org/drawingml/2006/main" noGrp="1"/>
          </p:cNvSpPr>
          <p:nvPr/>
        </p:nvSpPr>
        <p:spPr>
          <a:xfrm xmlns:a="http://schemas.openxmlformats.org/drawingml/2006/main">
            <a:off x="6191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D23B0CDC-60D6-4721-B0A6-876DC7EF0D16}"/>
              </a:ext>
            </a:extLst>
          </p:cNvPr>
          <p:cNvSpPr>
            <a:spLocks xmlns:a="http://schemas.openxmlformats.org/drawingml/2006/main" noGrp="1"/>
          </p:cNvSpPr>
          <p:nvPr/>
        </p:nvSpPr>
        <p:spPr>
          <a:xfrm xmlns:a="http://schemas.openxmlformats.org/drawingml/2006/main">
            <a:off x="6191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Backend tests</a:t>
            </a:r>
          </a:p>
        </p:txBody>
      </p:sp>
      <p:sp>
        <p:nvSpPr>
          <p:cNvPr id="6" name="">
            <a:extLst xmlns:a="http://schemas.openxmlformats.org/drawingml/2006/main">
              <a:ext uri="{FF2B5EF4-FFF2-40B4-BE49-F238E27FC236}">
                <a16:creationId xmlns:a16="http://schemas.microsoft.com/office/drawing/2014/main" id="{8A5CDCAA-0839-40EE-AF74-0160F8E91660}"/>
              </a:ext>
            </a:extLst>
          </p:cNvPr>
          <p:cNvSpPr>
            <a:spLocks xmlns:a="http://schemas.openxmlformats.org/drawingml/2006/main" noGrp="1"/>
          </p:cNvSpPr>
          <p:nvPr/>
        </p:nvSpPr>
        <p:spPr>
          <a:xfrm xmlns:a="http://schemas.openxmlformats.org/drawingml/2006/main">
            <a:off x="6191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Isolated SQLite test database</a:t>
            </a:r>
          </a:p>
        </p:txBody>
      </p:sp>
      <p:sp>
        <p:nvSpPr>
          <p:cNvPr id="7" name="">
            <a:extLst xmlns:a="http://schemas.openxmlformats.org/drawingml/2006/main">
              <a:ext uri="{FF2B5EF4-FFF2-40B4-BE49-F238E27FC236}">
                <a16:creationId xmlns:a16="http://schemas.microsoft.com/office/drawing/2014/main" id="{15E3BAD5-ECF3-41D4-95BD-979FF7B6FB6D}"/>
              </a:ext>
            </a:extLst>
          </p:cNvPr>
          <p:cNvSpPr>
            <a:spLocks xmlns:a="http://schemas.openxmlformats.org/drawingml/2006/main" noGrp="1"/>
          </p:cNvSpPr>
          <p:nvPr/>
        </p:nvSpPr>
        <p:spPr>
          <a:xfrm xmlns:a="http://schemas.openxmlformats.org/drawingml/2006/main">
            <a:off x="34004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10</a:t>
            </a:r>
          </a:p>
        </p:txBody>
      </p:sp>
      <p:sp>
        <p:nvSpPr>
          <p:cNvPr id="8" name="">
            <a:extLst xmlns:a="http://schemas.openxmlformats.org/drawingml/2006/main">
              <a:ext uri="{FF2B5EF4-FFF2-40B4-BE49-F238E27FC236}">
                <a16:creationId xmlns:a16="http://schemas.microsoft.com/office/drawing/2014/main" id="{DB2CA226-AC47-49A2-8DD2-3590C958FC79}"/>
              </a:ext>
            </a:extLst>
          </p:cNvPr>
          <p:cNvSpPr>
            <a:spLocks xmlns:a="http://schemas.openxmlformats.org/drawingml/2006/main" noGrp="1"/>
          </p:cNvSpPr>
          <p:nvPr/>
        </p:nvSpPr>
        <p:spPr>
          <a:xfrm xmlns:a="http://schemas.openxmlformats.org/drawingml/2006/main">
            <a:off x="34004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Firmware host tests</a:t>
            </a:r>
          </a:p>
        </p:txBody>
      </p:sp>
      <p:sp>
        <p:nvSpPr>
          <p:cNvPr id="9" name="">
            <a:extLst xmlns:a="http://schemas.openxmlformats.org/drawingml/2006/main">
              <a:ext uri="{FF2B5EF4-FFF2-40B4-BE49-F238E27FC236}">
                <a16:creationId xmlns:a16="http://schemas.microsoft.com/office/drawing/2014/main" id="{1F2D7F68-C2AD-4007-971F-37F17D4FC2D0}"/>
              </a:ext>
            </a:extLst>
          </p:cNvPr>
          <p:cNvSpPr>
            <a:spLocks xmlns:a="http://schemas.openxmlformats.org/drawingml/2006/main" noGrp="1"/>
          </p:cNvSpPr>
          <p:nvPr/>
        </p:nvSpPr>
        <p:spPr>
          <a:xfrm xmlns:a="http://schemas.openxmlformats.org/drawingml/2006/main">
            <a:off x="34004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Release package and delivery client</a:t>
            </a:r>
          </a:p>
        </p:txBody>
      </p:sp>
      <p:sp>
        <p:nvSpPr>
          <p:cNvPr id="10" name="">
            <a:extLst xmlns:a="http://schemas.openxmlformats.org/drawingml/2006/main">
              <a:ext uri="{FF2B5EF4-FFF2-40B4-BE49-F238E27FC236}">
                <a16:creationId xmlns:a16="http://schemas.microsoft.com/office/drawing/2014/main" id="{C8E07E72-65A5-456E-87EA-7F858477BA59}"/>
              </a:ext>
            </a:extLst>
          </p:cNvPr>
          <p:cNvSpPr>
            <a:spLocks xmlns:a="http://schemas.openxmlformats.org/drawingml/2006/main" noGrp="1"/>
          </p:cNvSpPr>
          <p:nvPr/>
        </p:nvSpPr>
        <p:spPr>
          <a:xfrm xmlns:a="http://schemas.openxmlformats.org/drawingml/2006/main">
            <a:off x="61817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10</a:t>
            </a:r>
          </a:p>
        </p:txBody>
      </p:sp>
      <p:sp>
        <p:nvSpPr>
          <p:cNvPr id="11" name="">
            <a:extLst xmlns:a="http://schemas.openxmlformats.org/drawingml/2006/main">
              <a:ext uri="{FF2B5EF4-FFF2-40B4-BE49-F238E27FC236}">
                <a16:creationId xmlns:a16="http://schemas.microsoft.com/office/drawing/2014/main" id="{82510E4A-5119-4B33-9A4D-F2C652669457}"/>
              </a:ext>
            </a:extLst>
          </p:cNvPr>
          <p:cNvSpPr>
            <a:spLocks xmlns:a="http://schemas.openxmlformats.org/drawingml/2006/main" noGrp="1"/>
          </p:cNvSpPr>
          <p:nvPr/>
        </p:nvSpPr>
        <p:spPr>
          <a:xfrm xmlns:a="http://schemas.openxmlformats.org/drawingml/2006/main">
            <a:off x="61817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Frontend tests</a:t>
            </a:r>
          </a:p>
        </p:txBody>
      </p:sp>
      <p:sp>
        <p:nvSpPr>
          <p:cNvPr id="12" name="">
            <a:extLst xmlns:a="http://schemas.openxmlformats.org/drawingml/2006/main">
              <a:ext uri="{FF2B5EF4-FFF2-40B4-BE49-F238E27FC236}">
                <a16:creationId xmlns:a16="http://schemas.microsoft.com/office/drawing/2014/main" id="{706CA728-4BCD-4F01-AE20-18A3270A57AC}"/>
              </a:ext>
            </a:extLst>
          </p:cNvPr>
          <p:cNvSpPr>
            <a:spLocks xmlns:a="http://schemas.openxmlformats.org/drawingml/2006/main" noGrp="1"/>
          </p:cNvSpPr>
          <p:nvPr/>
        </p:nvSpPr>
        <p:spPr>
          <a:xfrm xmlns:a="http://schemas.openxmlformats.org/drawingml/2006/main">
            <a:off x="61817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Data handling and alert behavior</a:t>
            </a:r>
          </a:p>
        </p:txBody>
      </p:sp>
      <p:sp>
        <p:nvSpPr>
          <p:cNvPr id="13" name="">
            <a:extLst xmlns:a="http://schemas.openxmlformats.org/drawingml/2006/main">
              <a:ext uri="{FF2B5EF4-FFF2-40B4-BE49-F238E27FC236}">
                <a16:creationId xmlns:a16="http://schemas.microsoft.com/office/drawing/2014/main" id="{60B89516-25FD-481B-B6EA-B667428B2700}"/>
              </a:ext>
            </a:extLst>
          </p:cNvPr>
          <p:cNvSpPr>
            <a:spLocks xmlns:a="http://schemas.openxmlformats.org/drawingml/2006/main" noGrp="1"/>
          </p:cNvSpPr>
          <p:nvPr/>
        </p:nvSpPr>
        <p:spPr>
          <a:xfrm xmlns:a="http://schemas.openxmlformats.org/drawingml/2006/main">
            <a:off x="89630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BA6BDF5C-2AA4-4A4E-9EAF-A4D384597D60}"/>
              </a:ext>
            </a:extLst>
          </p:cNvPr>
          <p:cNvSpPr>
            <a:spLocks xmlns:a="http://schemas.openxmlformats.org/drawingml/2006/main" noGrp="1"/>
          </p:cNvSpPr>
          <p:nvPr/>
        </p:nvSpPr>
        <p:spPr>
          <a:xfrm xmlns:a="http://schemas.openxmlformats.org/drawingml/2006/main">
            <a:off x="89630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Native builds</a:t>
            </a:r>
          </a:p>
        </p:txBody>
      </p:sp>
      <p:sp>
        <p:nvSpPr>
          <p:cNvPr id="15" name="">
            <a:extLst xmlns:a="http://schemas.openxmlformats.org/drawingml/2006/main">
              <a:ext uri="{FF2B5EF4-FFF2-40B4-BE49-F238E27FC236}">
                <a16:creationId xmlns:a16="http://schemas.microsoft.com/office/drawing/2014/main" id="{1E1FA71B-9017-4FB2-963A-A8637991D036}"/>
              </a:ext>
            </a:extLst>
          </p:cNvPr>
          <p:cNvSpPr>
            <a:spLocks xmlns:a="http://schemas.openxmlformats.org/drawingml/2006/main" noGrp="1"/>
          </p:cNvSpPr>
          <p:nvPr/>
        </p:nvSpPr>
        <p:spPr>
          <a:xfrm xmlns:a="http://schemas.openxmlformats.org/drawingml/2006/main">
            <a:off x="89630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Inlet, outlet and control</a:t>
            </a:r>
          </a:p>
        </p:txBody>
      </p:sp>
      <p:sp>
        <p:nvSpPr>
          <p:cNvPr id="16" name="">
            <a:extLst xmlns:a="http://schemas.openxmlformats.org/drawingml/2006/main">
              <a:ext uri="{FF2B5EF4-FFF2-40B4-BE49-F238E27FC236}">
                <a16:creationId xmlns:a16="http://schemas.microsoft.com/office/drawing/2014/main" id="{B6720951-734E-4983-96C4-C7A745355A36}"/>
              </a:ext>
            </a:extLst>
          </p:cNvPr>
          <p:cNvSpPr>
            <a:spLocks xmlns:a="http://schemas.openxmlformats.org/drawingml/2006/main" noGrp="1"/>
          </p:cNvSpPr>
          <p:nvPr/>
        </p:nvSpPr>
        <p:spPr>
          <a:xfrm xmlns:a="http://schemas.openxmlformats.org/drawingml/2006/main">
            <a:off x="638175" y="5410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02A35"/>
                </a:solidFill>
                <a:latin typeface="Helvetica Neue"/>
                <a:ea typeface="Helvetica Neue"/>
                <a:cs typeface="Helvetica Neue"/>
              </a:defRPr>
            </a:defPPr>
          </a:lstStyle>
          <a:p xmlns:a="http://schemas.openxmlformats.org/drawingml/2006/main">
            <a:pPr>
              <a:defRPr sz="1800" b="1">
                <a:solidFill>
                  <a:srgbClr val="102A35"/>
                </a:solidFill>
                <a:latin typeface="Helvetica Neue"/>
                <a:ea typeface="Helvetica Neue"/>
                <a:cs typeface="Helvetica Neue"/>
              </a:defRPr>
            </a:pPr>
            <a:r>
              <a:rPr sz="1800" b="1">
                <a:solidFill>
                  <a:srgbClr val="102A35"/>
                </a:solidFill>
                <a:latin typeface="Helvetica Neue"/>
                <a:ea typeface="Helvetica Neue"/>
                <a:cs typeface="Helvetica Neue"/>
              </a:rPr>
              <a:t>Also checked</a:t>
            </a:r>
          </a:p>
        </p:txBody>
      </p:sp>
      <p:sp>
        <p:nvSpPr>
          <p:cNvPr id="17" name="">
            <a:extLst xmlns:a="http://schemas.openxmlformats.org/drawingml/2006/main">
              <a:ext uri="{FF2B5EF4-FFF2-40B4-BE49-F238E27FC236}">
                <a16:creationId xmlns:a16="http://schemas.microsoft.com/office/drawing/2014/main" id="{FCEEA136-D4A7-483F-830E-32720F4DE478}"/>
              </a:ext>
            </a:extLst>
          </p:cNvPr>
          <p:cNvSpPr>
            <a:spLocks xmlns:a="http://schemas.openxmlformats.org/drawingml/2006/main" noGrp="1"/>
          </p:cNvSpPr>
          <p:nvPr/>
        </p:nvSpPr>
        <p:spPr>
          <a:xfrm xmlns:a="http://schemas.openxmlformats.org/drawingml/2006/main">
            <a:off x="2857500" y="5410200"/>
            <a:ext cx="8429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B707A"/>
                </a:solidFill>
                <a:latin typeface="Helvetica Neue"/>
                <a:ea typeface="Helvetica Neue"/>
                <a:cs typeface="Helvetica Neue"/>
              </a:defRPr>
            </a:defPPr>
          </a:lstStyle>
          <a:p xmlns:a="http://schemas.openxmlformats.org/drawingml/2006/main">
            <a:pPr>
              <a:defRPr sz="1875" b="0">
                <a:solidFill>
                  <a:srgbClr val="5B707A"/>
                </a:solidFill>
                <a:latin typeface="Helvetica Neue"/>
                <a:ea typeface="Helvetica Neue"/>
                <a:cs typeface="Helvetica Neue"/>
              </a:defRPr>
            </a:pPr>
            <a:r>
              <a:rPr sz="1875" b="0">
                <a:solidFill>
                  <a:srgbClr val="5B707A"/>
                </a:solidFill>
                <a:latin typeface="Helvetica Neue"/>
                <a:ea typeface="Helvetica Neue"/>
                <a:cs typeface="Helvetica Neue"/>
              </a:rPr>
              <a:t>Frontend type check/build and firmware workflow validation passed.</a:t>
            </a:r>
          </a:p>
        </p:txBody>
      </p:sp>
      <p:sp>
        <p:nvSpPr>
          <p:cNvPr id="18" name="">
            <a:extLst xmlns:a="http://schemas.openxmlformats.org/drawingml/2006/main">
              <a:ext uri="{FF2B5EF4-FFF2-40B4-BE49-F238E27FC236}">
                <a16:creationId xmlns:a16="http://schemas.microsoft.com/office/drawing/2014/main" id="{5E8AE81B-99D4-447C-B60F-5DA5BA8C1FBC}"/>
              </a:ext>
            </a:extLst>
          </p:cNvPr>
          <p:cNvSpPr>
            <a:spLocks xmlns:a="http://schemas.openxmlformats.org/drawingml/2006/main" noGrp="1"/>
          </p:cNvSpPr>
          <p:nvPr/>
        </p:nvSpPr>
        <p:spPr>
          <a:xfrm xmlns:a="http://schemas.openxmlformats.org/drawingml/2006/main">
            <a:off x="628650" y="62103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Local tests and compilation do not establish production deployment or physical-device acceptance.</a:t>
            </a:r>
          </a:p>
        </p:txBody>
      </p:sp>
    </p:spTree>
    <p:extLst>
      <p:ext uri="{BB962C8B-B14F-4D97-AF65-F5344CB8AC3E}">
        <p14:creationId xmlns:p14="http://schemas.microsoft.com/office/powerpoint/2010/main" val="928234939"/>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0FD9A2-CC30-4974-9928-305012121934}"/>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Open issues and readiness limits</a:t>
            </a:r>
          </a:p>
        </p:txBody>
      </p:sp>
      <p:sp>
        <p:nvSpPr>
          <p:cNvPr id="2" name="">
            <a:extLst xmlns:a="http://schemas.openxmlformats.org/drawingml/2006/main">
              <a:ext uri="{FF2B5EF4-FFF2-40B4-BE49-F238E27FC236}">
                <a16:creationId xmlns:a16="http://schemas.microsoft.com/office/drawing/2014/main" id="{2871533A-AA00-4C21-9F25-B57A3DDE1DB5}"/>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next work addresses recovery, access and reporting accuracy.</a:t>
            </a:r>
          </a:p>
        </p:txBody>
      </p:sp>
      <p:sp>
        <p:nvSpPr>
          <p:cNvPr id="3" name="">
            <a:extLst xmlns:a="http://schemas.openxmlformats.org/drawingml/2006/main">
              <a:ext uri="{FF2B5EF4-FFF2-40B4-BE49-F238E27FC236}">
                <a16:creationId xmlns:a16="http://schemas.microsoft.com/office/drawing/2014/main" id="{9D2D9215-DE9C-46BA-AE40-76D793529CB4}"/>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3DBA613C-A950-4E06-B86C-D6F2B53E2F16}"/>
              </a:ext>
            </a:extLst>
          </p:cNvPr>
          <p:cNvSpPr>
            <a:spLocks xmlns:a="http://schemas.openxmlformats.org/drawingml/2006/main" noGrp="1"/>
          </p:cNvSpPr>
          <p:nvPr/>
        </p:nvSpPr>
        <p:spPr>
          <a:xfrm xmlns:a="http://schemas.openxmlformats.org/drawingml/2006/main">
            <a:off x="619125" y="2000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FC87389C-C0C0-48D6-B526-E98B197F0F27}"/>
              </a:ext>
            </a:extLst>
          </p:cNvPr>
          <p:cNvSpPr>
            <a:spLocks xmlns:a="http://schemas.openxmlformats.org/drawingml/2006/main" noGrp="1"/>
          </p:cNvSpPr>
          <p:nvPr/>
        </p:nvSpPr>
        <p:spPr>
          <a:xfrm xmlns:a="http://schemas.openxmlformats.org/drawingml/2006/main">
            <a:off x="1476375" y="20002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Device recovery</a:t>
            </a:r>
          </a:p>
        </p:txBody>
      </p:sp>
      <p:sp>
        <p:nvSpPr>
          <p:cNvPr id="6" name="">
            <a:extLst xmlns:a="http://schemas.openxmlformats.org/drawingml/2006/main">
              <a:ext uri="{FF2B5EF4-FFF2-40B4-BE49-F238E27FC236}">
                <a16:creationId xmlns:a16="http://schemas.microsoft.com/office/drawing/2014/main" id="{11311004-3E6F-4773-9150-CC4685738270}"/>
              </a:ext>
            </a:extLst>
          </p:cNvPr>
          <p:cNvSpPr>
            <a:spLocks xmlns:a="http://schemas.openxmlformats.org/drawingml/2006/main" noGrp="1"/>
          </p:cNvSpPr>
          <p:nvPr/>
        </p:nvSpPr>
        <p:spPr>
          <a:xfrm xmlns:a="http://schemas.openxmlformats.org/drawingml/2006/main">
            <a:off x="1476375" y="24193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Interrupted provisioning and OTA attempt bookkeeping need hardening.</a:t>
            </a:r>
          </a:p>
        </p:txBody>
      </p:sp>
      <p:sp>
        <p:nvSpPr>
          <p:cNvPr id="7" name="">
            <a:extLst xmlns:a="http://schemas.openxmlformats.org/drawingml/2006/main">
              <a:ext uri="{FF2B5EF4-FFF2-40B4-BE49-F238E27FC236}">
                <a16:creationId xmlns:a16="http://schemas.microsoft.com/office/drawing/2014/main" id="{89BD1496-C350-45A9-8E32-B34E93E4030F}"/>
              </a:ext>
            </a:extLst>
          </p:cNvPr>
          <p:cNvSpPr>
            <a:spLocks xmlns:a="http://schemas.openxmlformats.org/drawingml/2006/main" noGrp="1"/>
          </p:cNvSpPr>
          <p:nvPr/>
        </p:nvSpPr>
        <p:spPr>
          <a:xfrm xmlns:a="http://schemas.openxmlformats.org/drawingml/2006/main">
            <a:off x="619125" y="30289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CA6C8A11-3585-4410-8E45-89C0A7B6287B}"/>
              </a:ext>
            </a:extLst>
          </p:cNvPr>
          <p:cNvSpPr>
            <a:spLocks xmlns:a="http://schemas.openxmlformats.org/drawingml/2006/main" noGrp="1"/>
          </p:cNvSpPr>
          <p:nvPr/>
        </p:nvSpPr>
        <p:spPr>
          <a:xfrm xmlns:a="http://schemas.openxmlformats.org/drawingml/2006/main">
            <a:off x="1476375" y="30289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Board and equipment acceptance</a:t>
            </a:r>
          </a:p>
        </p:txBody>
      </p:sp>
      <p:sp>
        <p:nvSpPr>
          <p:cNvPr id="9" name="">
            <a:extLst xmlns:a="http://schemas.openxmlformats.org/drawingml/2006/main">
              <a:ext uri="{FF2B5EF4-FFF2-40B4-BE49-F238E27FC236}">
                <a16:creationId xmlns:a16="http://schemas.microsoft.com/office/drawing/2014/main" id="{FDDF0E35-674D-47D2-8798-A535400446A4}"/>
              </a:ext>
            </a:extLst>
          </p:cNvPr>
          <p:cNvSpPr>
            <a:spLocks xmlns:a="http://schemas.openxmlformats.org/drawingml/2006/main" noGrp="1"/>
          </p:cNvSpPr>
          <p:nvPr/>
        </p:nvSpPr>
        <p:spPr>
          <a:xfrm xmlns:a="http://schemas.openxmlformats.org/drawingml/2006/main">
            <a:off x="1476375" y="34480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Confirm LilyGO compatibility, actuator behavior and physical rollback.</a:t>
            </a:r>
          </a:p>
        </p:txBody>
      </p:sp>
      <p:sp>
        <p:nvSpPr>
          <p:cNvPr id="10" name="">
            <a:extLst xmlns:a="http://schemas.openxmlformats.org/drawingml/2006/main">
              <a:ext uri="{FF2B5EF4-FFF2-40B4-BE49-F238E27FC236}">
                <a16:creationId xmlns:a16="http://schemas.microsoft.com/office/drawing/2014/main" id="{084BF8F0-5868-4A55-80A2-312812FD6D9D}"/>
              </a:ext>
            </a:extLst>
          </p:cNvPr>
          <p:cNvSpPr>
            <a:spLocks xmlns:a="http://schemas.openxmlformats.org/drawingml/2006/main" noGrp="1"/>
          </p:cNvSpPr>
          <p:nvPr/>
        </p:nvSpPr>
        <p:spPr>
          <a:xfrm xmlns:a="http://schemas.openxmlformats.org/drawingml/2006/main">
            <a:off x="619125" y="40576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1DB5B789-FF06-488D-9D96-3DE85617E15C}"/>
              </a:ext>
            </a:extLst>
          </p:cNvPr>
          <p:cNvSpPr>
            <a:spLocks xmlns:a="http://schemas.openxmlformats.org/drawingml/2006/main" noGrp="1"/>
          </p:cNvSpPr>
          <p:nvPr/>
        </p:nvSpPr>
        <p:spPr>
          <a:xfrm xmlns:a="http://schemas.openxmlformats.org/drawingml/2006/main">
            <a:off x="1476375" y="40576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Web access and server capacity</a:t>
            </a:r>
          </a:p>
        </p:txBody>
      </p:sp>
      <p:sp>
        <p:nvSpPr>
          <p:cNvPr id="12" name="">
            <a:extLst xmlns:a="http://schemas.openxmlformats.org/drawingml/2006/main">
              <a:ext uri="{FF2B5EF4-FFF2-40B4-BE49-F238E27FC236}">
                <a16:creationId xmlns:a16="http://schemas.microsoft.com/office/drawing/2014/main" id="{E2461D41-5A20-43B7-B0F4-B72A70296D43}"/>
              </a:ext>
            </a:extLst>
          </p:cNvPr>
          <p:cNvSpPr>
            <a:spLocks xmlns:a="http://schemas.openxmlformats.org/drawingml/2006/main" noGrp="1"/>
          </p:cNvSpPr>
          <p:nvPr/>
        </p:nvSpPr>
        <p:spPr>
          <a:xfrm xmlns:a="http://schemas.openxmlformats.org/drawingml/2006/main">
            <a:off x="1476375" y="44767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Replace mock authentication and address WebSocket thread saturation.</a:t>
            </a:r>
          </a:p>
        </p:txBody>
      </p:sp>
      <p:sp>
        <p:nvSpPr>
          <p:cNvPr id="13" name="">
            <a:extLst xmlns:a="http://schemas.openxmlformats.org/drawingml/2006/main">
              <a:ext uri="{FF2B5EF4-FFF2-40B4-BE49-F238E27FC236}">
                <a16:creationId xmlns:a16="http://schemas.microsoft.com/office/drawing/2014/main" id="{40146B5B-6E8F-4DD7-8EB6-D549F8250E71}"/>
              </a:ext>
            </a:extLst>
          </p:cNvPr>
          <p:cNvSpPr>
            <a:spLocks xmlns:a="http://schemas.openxmlformats.org/drawingml/2006/main" noGrp="1"/>
          </p:cNvSpPr>
          <p:nvPr/>
        </p:nvSpPr>
        <p:spPr>
          <a:xfrm xmlns:a="http://schemas.openxmlformats.org/drawingml/2006/main">
            <a:off x="619125" y="50863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7EB02DD6-2198-45DF-8743-336115C54028}"/>
              </a:ext>
            </a:extLst>
          </p:cNvPr>
          <p:cNvSpPr>
            <a:spLocks xmlns:a="http://schemas.openxmlformats.org/drawingml/2006/main" noGrp="1"/>
          </p:cNvSpPr>
          <p:nvPr/>
        </p:nvSpPr>
        <p:spPr>
          <a:xfrm xmlns:a="http://schemas.openxmlformats.org/drawingml/2006/main">
            <a:off x="1476375" y="50863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Report correctness</a:t>
            </a:r>
          </a:p>
        </p:txBody>
      </p:sp>
      <p:sp>
        <p:nvSpPr>
          <p:cNvPr id="15" name="">
            <a:extLst xmlns:a="http://schemas.openxmlformats.org/drawingml/2006/main">
              <a:ext uri="{FF2B5EF4-FFF2-40B4-BE49-F238E27FC236}">
                <a16:creationId xmlns:a16="http://schemas.microsoft.com/office/drawing/2014/main" id="{24CEE285-516F-4B10-8399-B8EC7CB0914E}"/>
              </a:ext>
            </a:extLst>
          </p:cNvPr>
          <p:cNvSpPr>
            <a:spLocks xmlns:a="http://schemas.openxmlformats.org/drawingml/2006/main" noGrp="1"/>
          </p:cNvSpPr>
          <p:nvPr/>
        </p:nvSpPr>
        <p:spPr>
          <a:xfrm xmlns:a="http://schemas.openxmlformats.org/drawingml/2006/main">
            <a:off x="1476375" y="55054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Charts currently use a records page. Custom dates and filter requests need fixes.</a:t>
            </a:r>
          </a:p>
        </p:txBody>
      </p:sp>
    </p:spTree>
    <p:extLst>
      <p:ext uri="{BB962C8B-B14F-4D97-AF65-F5344CB8AC3E}">
        <p14:creationId xmlns:p14="http://schemas.microsoft.com/office/powerpoint/2010/main" val="1179124902"/>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F1067C-A1CB-4219-8644-4FF718AB913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Documentation and operational handoff</a:t>
            </a:r>
          </a:p>
        </p:txBody>
      </p:sp>
      <p:sp>
        <p:nvSpPr>
          <p:cNvPr id="2" name="">
            <a:extLst xmlns:a="http://schemas.openxmlformats.org/drawingml/2006/main">
              <a:ext uri="{FF2B5EF4-FFF2-40B4-BE49-F238E27FC236}">
                <a16:creationId xmlns:a16="http://schemas.microsoft.com/office/drawing/2014/main" id="{029A5633-8936-406B-988D-75C1CE3248EC}"/>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repository now includes a first-use path and an evidence record.</a:t>
            </a:r>
          </a:p>
        </p:txBody>
      </p:sp>
      <p:sp>
        <p:nvSpPr>
          <p:cNvPr id="3" name="">
            <a:extLst xmlns:a="http://schemas.openxmlformats.org/drawingml/2006/main">
              <a:ext uri="{FF2B5EF4-FFF2-40B4-BE49-F238E27FC236}">
                <a16:creationId xmlns:a16="http://schemas.microsoft.com/office/drawing/2014/main" id="{8F5C3BB9-8BEE-4748-BFA1-3DFA6FBBBD50}"/>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10</a:t>
            </a:r>
          </a:p>
        </p:txBody>
      </p:sp>
      <p:graphicFrame>
        <p:nvGraphicFramePr>
          <p:cNvPr id="4" name="">
            <a:extLst xmlns:a="http://schemas.openxmlformats.org/drawingml/2006/main">
              <a:ext uri="{FF2B5EF4-FFF2-40B4-BE49-F238E27FC236}">
                <a16:creationId xmlns:a16="http://schemas.microsoft.com/office/drawing/2014/main" id="{922FE832-1DE6-4472-96F9-F1E6028C121D}"/>
              </a:ext>
            </a:extLst>
          </p:cNvPr>
          <p:cNvGraphicFramePr/>
          <p:nvPr/>
        </p:nvGraphicFramePr>
        <p:xfrm>
          <a:off xmlns:a="http://schemas.openxmlformats.org/drawingml/2006/main" x="609600" y="2076450"/>
          <a:ext xmlns:a="http://schemas.openxmlformats.org/drawingml/2006/main" cx="10972800" cy="3714750"/>
        </p:xfrm>
        <a:graphic xmlns:a="http://schemas.openxmlformats.org/drawingml/2006/main">
          <a:graphicData uri="http://schemas.openxmlformats.org/drawingml/2006/table">
            <a:tbl>
              <a:tblPr/>
              <a:tblGrid>
                <a:gridCol w="3810000"/>
                <a:gridCol w="7162800"/>
              </a:tblGrid>
              <a:tr h="552450">
                <a:tc>
                  <a:txBody>
                    <a:bodyPr/>
                    <a:lstStyle/>
                    <a:p>
                      <a:r>
                        <a:rPr sz="1500" b="1">
                          <a:solidFill>
                            <a:srgbClr val="FFFFFF"/>
                          </a:solidFill>
                          <a:latin typeface="Helvetica Neue"/>
                          <a:ea typeface="Helvetica Neue"/>
                          <a:cs typeface="Helvetica Neue"/>
                        </a:rPr>
                        <a:t>Document</a:t>
                      </a:r>
                    </a:p>
                  </a:txBody>
                  <a:tcPr marL="152400" marR="152400" marT="114300" marB="1143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Purpose</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632460">
                <a:tc>
                  <a:txBody>
                    <a:bodyPr/>
                    <a:lstStyle/>
                    <a:p>
                      <a:r>
                        <a:rPr sz="1650" b="0">
                          <a:solidFill>
                            <a:srgbClr val="102A35"/>
                          </a:solidFill>
                          <a:latin typeface="Helvetica Neue"/>
                          <a:ea typeface="Helvetica Neue"/>
                          <a:cs typeface="Helvetica Neue"/>
                        </a:rPr>
                        <a:t>OTA beginner guide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Setup, USB installation, provisioning and first OTA</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Firmware CI/CD guide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Secrets, release tags and registration retries</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OTA verification record</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Completed checks and outstanding limitations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OTA acceptance template</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Board identity, test evidence and readiness decision</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Cloud and maintenance guides</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Hosting configuration, diagnostics and recovery</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bl>
          </a:graphicData>
        </a:graphic>
      </p:graphicFrame>
    </p:spTree>
    <p:extLst>
      <p:ext uri="{BB962C8B-B14F-4D97-AF65-F5344CB8AC3E}">
        <p14:creationId xmlns:p14="http://schemas.microsoft.com/office/powerpoint/2010/main" val="331166661"/>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15F79D-AF69-48C8-ACC9-1F3D1EA2C4A7}"/>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Next milestones</a:t>
            </a:r>
          </a:p>
        </p:txBody>
      </p:sp>
      <p:sp>
        <p:nvSpPr>
          <p:cNvPr id="2" name="">
            <a:extLst xmlns:a="http://schemas.openxmlformats.org/drawingml/2006/main">
              <a:ext uri="{FF2B5EF4-FFF2-40B4-BE49-F238E27FC236}">
                <a16:creationId xmlns:a16="http://schemas.microsoft.com/office/drawing/2014/main" id="{B023B30A-1A95-4703-A08A-55F7B51CBF30}"/>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Acceptance evidence determines progression. No completion dates are assumed.</a:t>
            </a:r>
          </a:p>
        </p:txBody>
      </p:sp>
      <p:sp>
        <p:nvSpPr>
          <p:cNvPr id="3" name="">
            <a:extLst xmlns:a="http://schemas.openxmlformats.org/drawingml/2006/main">
              <a:ext uri="{FF2B5EF4-FFF2-40B4-BE49-F238E27FC236}">
                <a16:creationId xmlns:a16="http://schemas.microsoft.com/office/drawing/2014/main" id="{51BD99C6-BE05-4A7E-AAB4-26CA31F4E6B1}"/>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11</a:t>
            </a:r>
          </a:p>
        </p:txBody>
      </p:sp>
      <p:graphicFrame>
        <p:nvGraphicFramePr>
          <p:cNvPr id="4" name="">
            <a:extLst xmlns:a="http://schemas.openxmlformats.org/drawingml/2006/main">
              <a:ext uri="{FF2B5EF4-FFF2-40B4-BE49-F238E27FC236}">
                <a16:creationId xmlns:a16="http://schemas.microsoft.com/office/drawing/2014/main" id="{02C48EF3-91E3-4E51-9C26-6799FBCF44A2}"/>
              </a:ext>
            </a:extLst>
          </p:cNvPr>
          <p:cNvGraphicFramePr/>
          <p:nvPr/>
        </p:nvGraphicFramePr>
        <p:xfrm>
          <a:off xmlns:a="http://schemas.openxmlformats.org/drawingml/2006/main" x="609600" y="2076450"/>
          <a:ext xmlns:a="http://schemas.openxmlformats.org/drawingml/2006/main" cx="10972800" cy="3714750"/>
        </p:xfrm>
        <a:graphic xmlns:a="http://schemas.openxmlformats.org/drawingml/2006/main">
          <a:graphicData uri="http://schemas.openxmlformats.org/drawingml/2006/table">
            <a:tbl>
              <a:tblPr/>
              <a:tblGrid>
                <a:gridCol w="1143000"/>
                <a:gridCol w="4095750"/>
                <a:gridCol w="5734050"/>
              </a:tblGrid>
              <a:tr h="552450">
                <a:tc>
                  <a:txBody>
                    <a:bodyPr/>
                    <a:lstStyle/>
                    <a:p>
                      <a:r>
                        <a:rPr sz="1500" b="1">
                          <a:solidFill>
                            <a:srgbClr val="FFFFFF"/>
                          </a:solidFill>
                          <a:latin typeface="Helvetica Neue"/>
                          <a:ea typeface="Helvetica Neue"/>
                          <a:cs typeface="Helvetica Neue"/>
                        </a:rPr>
                        <a:t>Order</a:t>
                      </a:r>
                    </a:p>
                  </a:txBody>
                  <a:tcPr marL="152400" marR="152400" marT="114300" marB="1143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Milestone</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Evidence of completion</a:t>
                      </a:r>
                    </a:p>
                  </a:txBody>
                  <a:tcPr marL="152400" marR="152400" marT="114300" marB="1143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632460">
                <a:tc>
                  <a:txBody>
                    <a:bodyPr/>
                    <a:lstStyle/>
                    <a:p>
                      <a:r>
                        <a:rPr sz="1650" b="0">
                          <a:solidFill>
                            <a:srgbClr val="102A35"/>
                          </a:solidFill>
                          <a:latin typeface="Helvetica Neue"/>
                          <a:ea typeface="Helvetica Neue"/>
                          <a:cs typeface="Helvetica Neue"/>
                        </a:rPr>
                        <a:t>1</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Cloud release trial</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Signed assets and three disabled Django records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2</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First compatible bench board</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Provisioning, OTA and recovery evidence</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3</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Native telemetry integration</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Real readings and durable outage buffering</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4</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Autonomous equipment cycle</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Verified feedback, interlocks and local control</a:t>
                      </a:r>
                    </a:p>
                  </a:txBody>
                  <a:tcPr marL="152400" marR="152400" marT="114300" marB="1143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5</a:t>
                      </a:r>
                    </a:p>
                  </a:txBody>
                  <a:tcPr marL="152400" marR="152400" marT="114300" marB="1143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Operational release review</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Access, load, reporting and hardware checks pass</a:t>
                      </a:r>
                    </a:p>
                  </a:txBody>
                  <a:tcPr marL="152400" marR="152400" marT="114300" marB="114300" anchor="ctr">
                    <a:lnR w="9525">
                      <a:solidFill>
                        <a:srgbClr val="D9E3DE"/>
                      </a:solidFill>
                      <a:prstDash val="solid"/>
                    </a:lnR>
                    <a:lnB w="9525">
                      <a:solidFill>
                        <a:srgbClr val="D9E3DE"/>
                      </a:solidFill>
                      <a:prstDash val="solid"/>
                    </a:lnB>
                    <a:solidFill>
                      <a:srgbClr val="FFFFFF"/>
                    </a:solidFill>
                  </a:tcPr>
                </a:tc>
              </a:tr>
            </a:tbl>
          </a:graphicData>
        </a:graphic>
      </p:graphicFrame>
    </p:spTree>
    <p:extLst>
      <p:ext uri="{BB962C8B-B14F-4D97-AF65-F5344CB8AC3E}">
        <p14:creationId xmlns:p14="http://schemas.microsoft.com/office/powerpoint/2010/main" val="937996739"/>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0351B4-73ED-4C46-A45D-495A083491E7}"/>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Project demonstration</a:t>
            </a:r>
          </a:p>
        </p:txBody>
      </p:sp>
      <p:sp>
        <p:nvSpPr>
          <p:cNvPr id="2" name="">
            <a:extLst xmlns:a="http://schemas.openxmlformats.org/drawingml/2006/main">
              <a:ext uri="{FF2B5EF4-FFF2-40B4-BE49-F238E27FC236}">
                <a16:creationId xmlns:a16="http://schemas.microsoft.com/office/drawing/2014/main" id="{FFB6E20A-641A-4564-B9B6-5868B038C7A8}"/>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current demonstration covers the deployed web prototype and the delivery implementation.</a:t>
            </a:r>
          </a:p>
        </p:txBody>
      </p:sp>
      <p:sp>
        <p:nvSpPr>
          <p:cNvPr id="3" name="">
            <a:extLst xmlns:a="http://schemas.openxmlformats.org/drawingml/2006/main">
              <a:ext uri="{FF2B5EF4-FFF2-40B4-BE49-F238E27FC236}">
                <a16:creationId xmlns:a16="http://schemas.microsoft.com/office/drawing/2014/main" id="{433E42CC-303C-457C-A914-3131C97BD66F}"/>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E4AE0FC1-A29E-4358-920E-4727FC216E3E}"/>
              </a:ext>
            </a:extLst>
          </p:cNvPr>
          <p:cNvSpPr>
            <a:spLocks xmlns:a="http://schemas.openxmlformats.org/drawingml/2006/main" noGrp="1"/>
          </p:cNvSpPr>
          <p:nvPr/>
        </p:nvSpPr>
        <p:spPr>
          <a:xfrm xmlns:a="http://schemas.openxmlformats.org/drawingml/2006/main">
            <a:off x="638175" y="2143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F76"/>
                </a:solidFill>
                <a:latin typeface="Helvetica Neue"/>
                <a:ea typeface="Helvetica Neue"/>
                <a:cs typeface="Helvetica Neue"/>
              </a:defRPr>
            </a:defPPr>
          </a:lstStyle>
          <a:p xmlns:a="http://schemas.openxmlformats.org/drawingml/2006/main">
            <a:pPr>
              <a:defRPr sz="2250" b="1">
                <a:solidFill>
                  <a:srgbClr val="007F76"/>
                </a:solidFill>
                <a:latin typeface="Helvetica Neue"/>
                <a:ea typeface="Helvetica Neue"/>
                <a:cs typeface="Helvetica Neue"/>
              </a:defRPr>
            </a:pPr>
            <a:r>
              <a:rPr sz="2250" b="1">
                <a:solidFill>
                  <a:srgbClr val="007F76"/>
                </a:solidFill>
                <a:latin typeface="Helvetica Neue"/>
                <a:ea typeface="Helvetica Neue"/>
                <a:cs typeface="Helvetica Neue"/>
              </a:rPr>
              <a:t>1  Dashboard</a:t>
            </a:r>
          </a:p>
        </p:txBody>
      </p:sp>
      <p:sp>
        <p:nvSpPr>
          <p:cNvPr id="5" name="">
            <a:extLst xmlns:a="http://schemas.openxmlformats.org/drawingml/2006/main">
              <a:ext uri="{FF2B5EF4-FFF2-40B4-BE49-F238E27FC236}">
                <a16:creationId xmlns:a16="http://schemas.microsoft.com/office/drawing/2014/main" id="{7C183706-753F-4315-9F1F-AEEC5698704F}"/>
              </a:ext>
            </a:extLst>
          </p:cNvPr>
          <p:cNvSpPr>
            <a:spLocks xmlns:a="http://schemas.openxmlformats.org/drawingml/2006/main" noGrp="1"/>
          </p:cNvSpPr>
          <p:nvPr/>
        </p:nvSpPr>
        <p:spPr>
          <a:xfrm xmlns:a="http://schemas.openxmlformats.org/drawingml/2006/main">
            <a:off x="638175" y="26574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02A35"/>
                </a:solidFill>
                <a:latin typeface="Helvetica Neue"/>
                <a:ea typeface="Helvetica Neue"/>
                <a:cs typeface="Helvetica Neue"/>
              </a:defRPr>
            </a:defPPr>
          </a:lstStyle>
          <a:p xmlns:a="http://schemas.openxmlformats.org/drawingml/2006/main">
            <a:pPr>
              <a:defRPr sz="1875" b="0">
                <a:solidFill>
                  <a:srgbClr val="102A35"/>
                </a:solidFill>
                <a:latin typeface="Helvetica Neue"/>
                <a:ea typeface="Helvetica Neue"/>
                <a:cs typeface="Helvetica Neue"/>
              </a:defRPr>
            </a:pPr>
            <a:r>
              <a:rPr sz="1875" b="0">
                <a:solidFill>
                  <a:srgbClr val="102A35"/>
                </a:solidFill>
                <a:latin typeface="Helvetica Neue"/>
                <a:ea typeface="Helvetica Neue"/>
                <a:cs typeface="Helvetica Neue"/>
              </a:rPr>
              <a:t>https://zcharmc-monitoring.vercel.app/dashboard</a:t>
            </a:r>
          </a:p>
        </p:txBody>
      </p:sp>
      <p:sp>
        <p:nvSpPr>
          <p:cNvPr id="6" name="">
            <a:extLst xmlns:a="http://schemas.openxmlformats.org/drawingml/2006/main">
              <a:ext uri="{FF2B5EF4-FFF2-40B4-BE49-F238E27FC236}">
                <a16:creationId xmlns:a16="http://schemas.microsoft.com/office/drawing/2014/main" id="{BCBFD406-CC2C-4B25-89B1-B76115170C99}"/>
              </a:ext>
            </a:extLst>
          </p:cNvPr>
          <p:cNvSpPr>
            <a:spLocks xmlns:a="http://schemas.openxmlformats.org/drawingml/2006/main" noGrp="1"/>
          </p:cNvSpPr>
          <p:nvPr/>
        </p:nvSpPr>
        <p:spPr>
          <a:xfrm xmlns:a="http://schemas.openxmlformats.org/drawingml/2006/main">
            <a:off x="638175" y="3476625"/>
            <a:ext cx="1042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F76"/>
                </a:solidFill>
                <a:latin typeface="Helvetica Neue"/>
                <a:ea typeface="Helvetica Neue"/>
                <a:cs typeface="Helvetica Neue"/>
              </a:defRPr>
            </a:defPPr>
          </a:lstStyle>
          <a:p xmlns:a="http://schemas.openxmlformats.org/drawingml/2006/main">
            <a:pPr>
              <a:defRPr sz="2250" b="1">
                <a:solidFill>
                  <a:srgbClr val="007F76"/>
                </a:solidFill>
                <a:latin typeface="Helvetica Neue"/>
                <a:ea typeface="Helvetica Neue"/>
                <a:cs typeface="Helvetica Neue"/>
              </a:defRPr>
            </a:pPr>
            <a:r>
              <a:rPr sz="2250" b="1">
                <a:solidFill>
                  <a:srgbClr val="007F76"/>
                </a:solidFill>
                <a:latin typeface="Helvetica Neue"/>
                <a:ea typeface="Helvetica Neue"/>
                <a:cs typeface="Helvetica Neue"/>
              </a:rPr>
              <a:t>2  Reports and alerts</a:t>
            </a:r>
          </a:p>
        </p:txBody>
      </p:sp>
      <p:sp>
        <p:nvSpPr>
          <p:cNvPr id="7" name="">
            <a:extLst xmlns:a="http://schemas.openxmlformats.org/drawingml/2006/main">
              <a:ext uri="{FF2B5EF4-FFF2-40B4-BE49-F238E27FC236}">
                <a16:creationId xmlns:a16="http://schemas.microsoft.com/office/drawing/2014/main" id="{F5EF23F7-48DF-423A-9F8F-234CE5C37104}"/>
              </a:ext>
            </a:extLst>
          </p:cNvPr>
          <p:cNvSpPr>
            <a:spLocks xmlns:a="http://schemas.openxmlformats.org/drawingml/2006/main" noGrp="1"/>
          </p:cNvSpPr>
          <p:nvPr/>
        </p:nvSpPr>
        <p:spPr>
          <a:xfrm xmlns:a="http://schemas.openxmlformats.org/drawingml/2006/main">
            <a:off x="638175" y="39814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02A35"/>
                </a:solidFill>
                <a:latin typeface="Helvetica Neue"/>
                <a:ea typeface="Helvetica Neue"/>
                <a:cs typeface="Helvetica Neue"/>
              </a:defRPr>
            </a:defPPr>
          </a:lstStyle>
          <a:p xmlns:a="http://schemas.openxmlformats.org/drawingml/2006/main">
            <a:pPr>
              <a:defRPr sz="2025" b="0">
                <a:solidFill>
                  <a:srgbClr val="102A35"/>
                </a:solidFill>
                <a:latin typeface="Helvetica Neue"/>
                <a:ea typeface="Helvetica Neue"/>
                <a:cs typeface="Helvetica Neue"/>
              </a:defRPr>
            </a:pPr>
            <a:r>
              <a:rPr sz="2025" b="0">
                <a:solidFill>
                  <a:srgbClr val="102A35"/>
                </a:solidFill>
                <a:latin typeface="Helvetica Neue"/>
                <a:ea typeface="Helvetica Neue"/>
                <a:cs typeface="Helvetica Neue"/>
              </a:rPr>
              <a:t>Show stored records, exports and recorded threshold breaches.</a:t>
            </a:r>
          </a:p>
        </p:txBody>
      </p:sp>
      <p:sp>
        <p:nvSpPr>
          <p:cNvPr id="8" name="">
            <a:extLst xmlns:a="http://schemas.openxmlformats.org/drawingml/2006/main">
              <a:ext uri="{FF2B5EF4-FFF2-40B4-BE49-F238E27FC236}">
                <a16:creationId xmlns:a16="http://schemas.microsoft.com/office/drawing/2014/main" id="{ADF57C72-40DA-4F08-A05C-0F089A9029A0}"/>
              </a:ext>
            </a:extLst>
          </p:cNvPr>
          <p:cNvSpPr>
            <a:spLocks xmlns:a="http://schemas.openxmlformats.org/drawingml/2006/main" noGrp="1"/>
          </p:cNvSpPr>
          <p:nvPr/>
        </p:nvSpPr>
        <p:spPr>
          <a:xfrm xmlns:a="http://schemas.openxmlformats.org/drawingml/2006/main">
            <a:off x="638175" y="4810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F76"/>
                </a:solidFill>
                <a:latin typeface="Helvetica Neue"/>
                <a:ea typeface="Helvetica Neue"/>
                <a:cs typeface="Helvetica Neue"/>
              </a:defRPr>
            </a:defPPr>
          </a:lstStyle>
          <a:p xmlns:a="http://schemas.openxmlformats.org/drawingml/2006/main">
            <a:pPr>
              <a:defRPr sz="2250" b="1">
                <a:solidFill>
                  <a:srgbClr val="007F76"/>
                </a:solidFill>
                <a:latin typeface="Helvetica Neue"/>
                <a:ea typeface="Helvetica Neue"/>
                <a:cs typeface="Helvetica Neue"/>
              </a:defRPr>
            </a:pPr>
            <a:r>
              <a:rPr sz="2250" b="1">
                <a:solidFill>
                  <a:srgbClr val="007F76"/>
                </a:solidFill>
                <a:latin typeface="Helvetica Neue"/>
                <a:ea typeface="Helvetica Neue"/>
                <a:cs typeface="Helvetica Neue"/>
              </a:rPr>
              <a:t>3  OTA delivery evidence</a:t>
            </a:r>
          </a:p>
        </p:txBody>
      </p:sp>
      <p:sp>
        <p:nvSpPr>
          <p:cNvPr id="9" name="">
            <a:extLst xmlns:a="http://schemas.openxmlformats.org/drawingml/2006/main">
              <a:ext uri="{FF2B5EF4-FFF2-40B4-BE49-F238E27FC236}">
                <a16:creationId xmlns:a16="http://schemas.microsoft.com/office/drawing/2014/main" id="{0FA22537-15BA-4F6B-A4ED-113588AA72C1}"/>
              </a:ext>
            </a:extLst>
          </p:cNvPr>
          <p:cNvSpPr>
            <a:spLocks xmlns:a="http://schemas.openxmlformats.org/drawingml/2006/main" noGrp="1"/>
          </p:cNvSpPr>
          <p:nvPr/>
        </p:nvSpPr>
        <p:spPr>
          <a:xfrm xmlns:a="http://schemas.openxmlformats.org/drawingml/2006/main">
            <a:off x="638175" y="53149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02A35"/>
                </a:solidFill>
                <a:latin typeface="Helvetica Neue"/>
                <a:ea typeface="Helvetica Neue"/>
                <a:cs typeface="Helvetica Neue"/>
              </a:defRPr>
            </a:defPPr>
          </a:lstStyle>
          <a:p xmlns:a="http://schemas.openxmlformats.org/drawingml/2006/main">
            <a:pPr>
              <a:defRPr sz="2025" b="0">
                <a:solidFill>
                  <a:srgbClr val="102A35"/>
                </a:solidFill>
                <a:latin typeface="Helvetica Neue"/>
                <a:ea typeface="Helvetica Neue"/>
                <a:cs typeface="Helvetica Neue"/>
              </a:defRPr>
            </a:pPr>
            <a:r>
              <a:rPr sz="2025" b="0">
                <a:solidFill>
                  <a:srgbClr val="102A35"/>
                </a:solidFill>
                <a:latin typeface="Helvetica Neue"/>
                <a:ea typeface="Helvetica Neue"/>
                <a:cs typeface="Helvetica Neue"/>
              </a:rPr>
              <a:t>Show workflows and acceptance steps. Demonstrate physical OTA after bench validation.</a:t>
            </a:r>
          </a:p>
        </p:txBody>
      </p:sp>
    </p:spTree>
    <p:extLst>
      <p:ext uri="{BB962C8B-B14F-4D97-AF65-F5344CB8AC3E}">
        <p14:creationId xmlns:p14="http://schemas.microsoft.com/office/powerpoint/2010/main" val="1858048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2026-10-15T03:55:59.5930000Z</dcterms:created>
  <dcterms:modified xsi:type="dcterms:W3CDTF">2026-10-15T03:55:59.5930000Z</dcterms:modified>
</coreProperties>
</file>